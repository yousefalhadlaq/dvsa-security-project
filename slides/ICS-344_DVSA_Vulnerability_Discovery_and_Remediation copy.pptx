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11696"/>
            <a:ext cx="12191695" cy="36576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94944" y="73152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ICS-344: Information Security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94944" y="1353312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38BDF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DVSA Vulnerability Discovery and Remediation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713232" y="1947672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King Fahd University of Petroleum and Minerals | Term 252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13232" y="2578608"/>
            <a:ext cx="5486400" cy="457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29718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Team: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932688" y="3456432"/>
            <a:ext cx="658368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Yousef Alhadlaq — 202274280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932688" y="3968496"/>
            <a:ext cx="658368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Abdulellah Alamer — 202265520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32688" y="4480560"/>
            <a:ext cx="658368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Faris Alshahrany — 202277660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13232" y="5733288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Date: 26 April 2026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94360" y="647395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ICS-344 DVSA Remediation | 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11696"/>
            <a:ext cx="12191695" cy="36576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Agenda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841248"/>
            <a:ext cx="1920240" cy="457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7395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ICS-344 DVSA Remediation | 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14400" y="1325880"/>
            <a:ext cx="1005840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26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DVSA Architecture Overview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914400" y="1929384"/>
            <a:ext cx="1005840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26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10 Vulnerability Lessons — one slide each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914400" y="2532888"/>
            <a:ext cx="1005840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26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Summary Table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914400" y="3136392"/>
            <a:ext cx="1005840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26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Key Lessons Learned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914400" y="3739896"/>
            <a:ext cx="1005840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26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Conclusion</a:t>
            </a:r>
            <a:endParaRPr lang="en-US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11696"/>
            <a:ext cx="12191695" cy="36576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DVSA Architecture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841248"/>
            <a:ext cx="1920240" cy="457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7395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ICS-344 DVSA Remediation | 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1143000"/>
            <a:ext cx="5394960" cy="5074920"/>
          </a:xfrm>
          <a:prstGeom prst="rect">
            <a:avLst/>
          </a:prstGeom>
          <a:solidFill>
            <a:srgbClr val="111827">
              <a:alpha val="9000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17920" y="1143000"/>
            <a:ext cx="5394960" cy="5074920"/>
          </a:xfrm>
          <a:prstGeom prst="rect">
            <a:avLst/>
          </a:prstGeom>
          <a:solidFill>
            <a:srgbClr val="111827">
              <a:alpha val="9000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463040"/>
            <a:ext cx="475488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Amazon S3 → static frontend hosting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68680" y="2048256"/>
            <a:ext cx="475488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Amazon Cognito → authentication and JWT issuance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68680" y="2633472"/>
            <a:ext cx="475488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Amazon API Gateway → public API entry point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868680" y="3218688"/>
            <a:ext cx="475488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AWS Lambda → backend business logic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519672" y="1463040"/>
            <a:ext cx="475488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Amazon DynamoDB → users, orders, and carts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519672" y="2048256"/>
            <a:ext cx="475488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Amazon SQS → asynchronous background processing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519672" y="2633472"/>
            <a:ext cx="475488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CloudWatch / CloudTrail → logging and audit trail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519672" y="3218688"/>
            <a:ext cx="475488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Request flow → Browser → API Gateway → Lambda → DynamoDB / S3 / SQS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11696"/>
            <a:ext cx="12191695" cy="36576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Lesson 1: EVENT INJECTION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841248"/>
            <a:ext cx="1920240" cy="457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7395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ICS-344 DVSA Remediation | 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1005840"/>
            <a:ext cx="11045952" cy="786384"/>
          </a:xfrm>
          <a:prstGeom prst="roundRect">
            <a:avLst>
              <a:gd name="adj" fmla="val 6977"/>
            </a:avLst>
          </a:prstGeom>
          <a:solidFill>
            <a:srgbClr val="111827">
              <a:alpha val="92000"/>
            </a:srgbClr>
          </a:solidFill>
          <a:ln w="12700">
            <a:solidFill>
              <a:srgbClr val="334155">
                <a:alpha val="8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1170432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5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🎯 What it is:</a:t>
            </a:r>
            <a:endParaRPr lang="en-US" sz="2050" dirty="0"/>
          </a:p>
        </p:txBody>
      </p:sp>
      <p:sp>
        <p:nvSpPr>
          <p:cNvPr id="9" name="Text 7"/>
          <p:cNvSpPr/>
          <p:nvPr/>
        </p:nvSpPr>
        <p:spPr>
          <a:xfrm>
            <a:off x="3182112" y="1106424"/>
            <a:ext cx="809244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Crafted POST to /order carries embedded JavaScript; Lambda executes it as code.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66928" y="2029968"/>
            <a:ext cx="11045952" cy="786384"/>
          </a:xfrm>
          <a:prstGeom prst="roundRect">
            <a:avLst>
              <a:gd name="adj" fmla="val 6977"/>
            </a:avLst>
          </a:prstGeom>
          <a:solidFill>
            <a:srgbClr val="162033">
              <a:alpha val="92000"/>
            </a:srgbClr>
          </a:solidFill>
          <a:ln w="12700">
            <a:solidFill>
              <a:srgbClr val="334155">
                <a:alpha val="8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" y="2194560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50" b="1" dirty="0">
                <a:solidFill>
                  <a:srgbClr val="A78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🔓 Root Cause:</a:t>
            </a:r>
            <a:endParaRPr lang="en-US" sz="2050" dirty="0"/>
          </a:p>
        </p:txBody>
      </p:sp>
      <p:sp>
        <p:nvSpPr>
          <p:cNvPr id="12" name="Text 10"/>
          <p:cNvSpPr/>
          <p:nvPr/>
        </p:nvSpPr>
        <p:spPr>
          <a:xfrm>
            <a:off x="3182112" y="2130552"/>
            <a:ext cx="809244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DVSA-ORDER-MANAGER used node-serialize on untrusted input.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66928" y="3054096"/>
            <a:ext cx="11045952" cy="786384"/>
          </a:xfrm>
          <a:prstGeom prst="roundRect">
            <a:avLst>
              <a:gd name="adj" fmla="val 6977"/>
            </a:avLst>
          </a:prstGeom>
          <a:solidFill>
            <a:srgbClr val="111827">
              <a:alpha val="92000"/>
            </a:srgbClr>
          </a:solidFill>
          <a:ln w="12700">
            <a:solidFill>
              <a:srgbClr val="334155">
                <a:alpha val="8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4672" y="3218688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50" b="1" dirty="0">
                <a:solidFill>
                  <a:srgbClr val="F43F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💥 Impact:</a:t>
            </a:r>
            <a:endParaRPr lang="en-US" sz="2050" dirty="0"/>
          </a:p>
        </p:txBody>
      </p:sp>
      <p:sp>
        <p:nvSpPr>
          <p:cNvPr id="15" name="Text 13"/>
          <p:cNvSpPr/>
          <p:nvPr/>
        </p:nvSpPr>
        <p:spPr>
          <a:xfrm>
            <a:off x="3182112" y="3154680"/>
            <a:ext cx="809244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Unauthenticated Remote Code Execution inside Lambda; attacker inherits role permissions.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66928" y="4078224"/>
            <a:ext cx="11045952" cy="786384"/>
          </a:xfrm>
          <a:prstGeom prst="roundRect">
            <a:avLst>
              <a:gd name="adj" fmla="val 6977"/>
            </a:avLst>
          </a:prstGeom>
          <a:solidFill>
            <a:srgbClr val="162033">
              <a:alpha val="92000"/>
            </a:srgbClr>
          </a:solidFill>
          <a:ln w="12700">
            <a:solidFill>
              <a:srgbClr val="334155">
                <a:alpha val="8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4672" y="4242816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5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🛠️ Fix Applied:</a:t>
            </a:r>
            <a:endParaRPr lang="en-US" sz="2050" dirty="0"/>
          </a:p>
        </p:txBody>
      </p:sp>
      <p:sp>
        <p:nvSpPr>
          <p:cNvPr id="18" name="Text 16"/>
          <p:cNvSpPr/>
          <p:nvPr/>
        </p:nvSpPr>
        <p:spPr>
          <a:xfrm>
            <a:off x="3182112" y="4178808"/>
            <a:ext cx="809244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Replaced node-serialize with JSON.parse(); allowlisted the action field early.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566928" y="5102352"/>
            <a:ext cx="11045952" cy="786384"/>
          </a:xfrm>
          <a:prstGeom prst="roundRect">
            <a:avLst>
              <a:gd name="adj" fmla="val 6977"/>
            </a:avLst>
          </a:prstGeom>
          <a:solidFill>
            <a:srgbClr val="111827">
              <a:alpha val="92000"/>
            </a:srgbClr>
          </a:solidFill>
          <a:ln w="12700">
            <a:solidFill>
              <a:srgbClr val="334155">
                <a:alpha val="8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4672" y="5266944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50" b="1" dirty="0">
                <a:solidFill>
                  <a:srgbClr val="22C5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✅ Verified By:</a:t>
            </a:r>
            <a:endParaRPr lang="en-US" sz="2050" dirty="0"/>
          </a:p>
        </p:txBody>
      </p:sp>
      <p:sp>
        <p:nvSpPr>
          <p:cNvPr id="21" name="Text 19"/>
          <p:cNvSpPr/>
          <p:nvPr/>
        </p:nvSpPr>
        <p:spPr>
          <a:xfrm>
            <a:off x="3182112" y="5202936"/>
            <a:ext cx="809244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Same payload returned “Invalid action”; CloudWatch showed no FILE READ SUCCESS events.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11696"/>
            <a:ext cx="12191695" cy="36576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Lesson 2: BROKEN AUTHENTICATION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841248"/>
            <a:ext cx="1920240" cy="457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7395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ICS-344 DVSA Remediation | 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1005840"/>
            <a:ext cx="11045952" cy="786384"/>
          </a:xfrm>
          <a:prstGeom prst="roundRect">
            <a:avLst>
              <a:gd name="adj" fmla="val 6977"/>
            </a:avLst>
          </a:prstGeom>
          <a:solidFill>
            <a:srgbClr val="111827">
              <a:alpha val="92000"/>
            </a:srgbClr>
          </a:solidFill>
          <a:ln w="12700">
            <a:solidFill>
              <a:srgbClr val="334155">
                <a:alpha val="8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1170432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5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🎯 What it is:</a:t>
            </a:r>
            <a:endParaRPr lang="en-US" sz="2050" dirty="0"/>
          </a:p>
        </p:txBody>
      </p:sp>
      <p:sp>
        <p:nvSpPr>
          <p:cNvPr id="9" name="Text 7"/>
          <p:cNvSpPr/>
          <p:nvPr/>
        </p:nvSpPr>
        <p:spPr>
          <a:xfrm>
            <a:off x="3182112" y="1106424"/>
            <a:ext cx="809244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Attacker rewrites the username claim in their JWT and backend accepts it.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66928" y="2029968"/>
            <a:ext cx="11045952" cy="786384"/>
          </a:xfrm>
          <a:prstGeom prst="roundRect">
            <a:avLst>
              <a:gd name="adj" fmla="val 6977"/>
            </a:avLst>
          </a:prstGeom>
          <a:solidFill>
            <a:srgbClr val="162033">
              <a:alpha val="92000"/>
            </a:srgbClr>
          </a:solidFill>
          <a:ln w="12700">
            <a:solidFill>
              <a:srgbClr val="334155">
                <a:alpha val="8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" y="2194560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50" b="1" dirty="0">
                <a:solidFill>
                  <a:srgbClr val="A78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🔓 Root Cause:</a:t>
            </a:r>
            <a:endParaRPr lang="en-US" sz="2050" dirty="0"/>
          </a:p>
        </p:txBody>
      </p:sp>
      <p:sp>
        <p:nvSpPr>
          <p:cNvPr id="12" name="Text 10"/>
          <p:cNvSpPr/>
          <p:nvPr/>
        </p:nvSpPr>
        <p:spPr>
          <a:xfrm>
            <a:off x="3182112" y="2130552"/>
            <a:ext cx="809244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Lambda decoded JWT claims but never verified the cryptographic signature.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66928" y="3054096"/>
            <a:ext cx="11045952" cy="786384"/>
          </a:xfrm>
          <a:prstGeom prst="roundRect">
            <a:avLst>
              <a:gd name="adj" fmla="val 6977"/>
            </a:avLst>
          </a:prstGeom>
          <a:solidFill>
            <a:srgbClr val="111827">
              <a:alpha val="92000"/>
            </a:srgbClr>
          </a:solidFill>
          <a:ln w="12700">
            <a:solidFill>
              <a:srgbClr val="334155">
                <a:alpha val="8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4672" y="3218688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50" b="1" dirty="0">
                <a:solidFill>
                  <a:srgbClr val="F43F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💥 Impact:</a:t>
            </a:r>
            <a:endParaRPr lang="en-US" sz="2050" dirty="0"/>
          </a:p>
        </p:txBody>
      </p:sp>
      <p:sp>
        <p:nvSpPr>
          <p:cNvPr id="15" name="Text 13"/>
          <p:cNvSpPr/>
          <p:nvPr/>
        </p:nvSpPr>
        <p:spPr>
          <a:xfrm>
            <a:off x="3182112" y="3154680"/>
            <a:ext cx="809244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Any authenticated user can impersonate another user and view private order data.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66928" y="4078224"/>
            <a:ext cx="11045952" cy="786384"/>
          </a:xfrm>
          <a:prstGeom prst="roundRect">
            <a:avLst>
              <a:gd name="adj" fmla="val 6977"/>
            </a:avLst>
          </a:prstGeom>
          <a:solidFill>
            <a:srgbClr val="162033">
              <a:alpha val="92000"/>
            </a:srgbClr>
          </a:solidFill>
          <a:ln w="12700">
            <a:solidFill>
              <a:srgbClr val="334155">
                <a:alpha val="8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4672" y="4242816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5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🛠️ Fix Applied:</a:t>
            </a:r>
            <a:endParaRPr lang="en-US" sz="2050" dirty="0"/>
          </a:p>
        </p:txBody>
      </p:sp>
      <p:sp>
        <p:nvSpPr>
          <p:cNvPr id="18" name="Text 16"/>
          <p:cNvSpPr/>
          <p:nvPr/>
        </p:nvSpPr>
        <p:spPr>
          <a:xfrm>
            <a:off x="3182112" y="4178808"/>
            <a:ext cx="809244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Added Cognito JWKS-based signature verification before trusting identity claims.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566928" y="5102352"/>
            <a:ext cx="11045952" cy="786384"/>
          </a:xfrm>
          <a:prstGeom prst="roundRect">
            <a:avLst>
              <a:gd name="adj" fmla="val 6977"/>
            </a:avLst>
          </a:prstGeom>
          <a:solidFill>
            <a:srgbClr val="111827">
              <a:alpha val="92000"/>
            </a:srgbClr>
          </a:solidFill>
          <a:ln w="12700">
            <a:solidFill>
              <a:srgbClr val="334155">
                <a:alpha val="8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4672" y="5266944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50" b="1" dirty="0">
                <a:solidFill>
                  <a:srgbClr val="22C5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✅ Verified By:</a:t>
            </a:r>
            <a:endParaRPr lang="en-US" sz="2050" dirty="0"/>
          </a:p>
        </p:txBody>
      </p:sp>
      <p:sp>
        <p:nvSpPr>
          <p:cNvPr id="21" name="Text 19"/>
          <p:cNvSpPr/>
          <p:nvPr/>
        </p:nvSpPr>
        <p:spPr>
          <a:xfrm>
            <a:off x="3182112" y="5202936"/>
            <a:ext cx="809244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Forged token was rejected; valid users still accessed only their own orders.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11696"/>
            <a:ext cx="12191695" cy="36576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Lesson 3: SENSITIVE INFORMATION DISCLOSURE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841248"/>
            <a:ext cx="1920240" cy="457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7395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ICS-344 DVSA Remediation | 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1005840"/>
            <a:ext cx="11045952" cy="786384"/>
          </a:xfrm>
          <a:prstGeom prst="roundRect">
            <a:avLst>
              <a:gd name="adj" fmla="val 6977"/>
            </a:avLst>
          </a:prstGeom>
          <a:solidFill>
            <a:srgbClr val="111827">
              <a:alpha val="92000"/>
            </a:srgbClr>
          </a:solidFill>
          <a:ln w="12700">
            <a:solidFill>
              <a:srgbClr val="334155">
                <a:alpha val="8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1170432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5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🎯 What it is:</a:t>
            </a:r>
            <a:endParaRPr lang="en-US" sz="2050" dirty="0"/>
          </a:p>
        </p:txBody>
      </p:sp>
      <p:sp>
        <p:nvSpPr>
          <p:cNvPr id="9" name="Text 7"/>
          <p:cNvSpPr/>
          <p:nvPr/>
        </p:nvSpPr>
        <p:spPr>
          <a:xfrm>
            <a:off x="3182112" y="1106424"/>
            <a:ext cx="809244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Admin Lambda paths exposed sensitive receipt data in S3 outside intended boundaries.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66928" y="2029968"/>
            <a:ext cx="11045952" cy="786384"/>
          </a:xfrm>
          <a:prstGeom prst="roundRect">
            <a:avLst>
              <a:gd name="adj" fmla="val 6977"/>
            </a:avLst>
          </a:prstGeom>
          <a:solidFill>
            <a:srgbClr val="162033">
              <a:alpha val="92000"/>
            </a:srgbClr>
          </a:solidFill>
          <a:ln w="12700">
            <a:solidFill>
              <a:srgbClr val="334155">
                <a:alpha val="8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" y="2194560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50" b="1" dirty="0">
                <a:solidFill>
                  <a:srgbClr val="A78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🔓 Root Cause:</a:t>
            </a:r>
            <a:endParaRPr lang="en-US" sz="2050" dirty="0"/>
          </a:p>
        </p:txBody>
      </p:sp>
      <p:sp>
        <p:nvSpPr>
          <p:cNvPr id="12" name="Text 10"/>
          <p:cNvSpPr/>
          <p:nvPr/>
        </p:nvSpPr>
        <p:spPr>
          <a:xfrm>
            <a:off x="3182112" y="2130552"/>
            <a:ext cx="809244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Receipt retrieval functions lacked authorization checks for requester rights.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66928" y="3054096"/>
            <a:ext cx="11045952" cy="786384"/>
          </a:xfrm>
          <a:prstGeom prst="roundRect">
            <a:avLst>
              <a:gd name="adj" fmla="val 6977"/>
            </a:avLst>
          </a:prstGeom>
          <a:solidFill>
            <a:srgbClr val="111827">
              <a:alpha val="92000"/>
            </a:srgbClr>
          </a:solidFill>
          <a:ln w="12700">
            <a:solidFill>
              <a:srgbClr val="334155">
                <a:alpha val="8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4672" y="3218688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50" b="1" dirty="0">
                <a:solidFill>
                  <a:srgbClr val="F43F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💥 Impact:</a:t>
            </a:r>
            <a:endParaRPr lang="en-US" sz="2050" dirty="0"/>
          </a:p>
        </p:txBody>
      </p:sp>
      <p:sp>
        <p:nvSpPr>
          <p:cNvPr id="15" name="Text 13"/>
          <p:cNvSpPr/>
          <p:nvPr/>
        </p:nvSpPr>
        <p:spPr>
          <a:xfrm>
            <a:off x="3182112" y="3154680"/>
            <a:ext cx="809244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Unauthorized users could retrieve sensitive S3 receipts by invoking backend paths.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66928" y="4078224"/>
            <a:ext cx="11045952" cy="786384"/>
          </a:xfrm>
          <a:prstGeom prst="roundRect">
            <a:avLst>
              <a:gd name="adj" fmla="val 6977"/>
            </a:avLst>
          </a:prstGeom>
          <a:solidFill>
            <a:srgbClr val="162033">
              <a:alpha val="92000"/>
            </a:srgbClr>
          </a:solidFill>
          <a:ln w="12700">
            <a:solidFill>
              <a:srgbClr val="334155">
                <a:alpha val="8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4672" y="4242816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5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🛠️ Fix Applied:</a:t>
            </a:r>
            <a:endParaRPr lang="en-US" sz="2050" dirty="0"/>
          </a:p>
        </p:txBody>
      </p:sp>
      <p:sp>
        <p:nvSpPr>
          <p:cNvPr id="18" name="Text 16"/>
          <p:cNvSpPr/>
          <p:nvPr/>
        </p:nvSpPr>
        <p:spPr>
          <a:xfrm>
            <a:off x="3182112" y="4178808"/>
            <a:ext cx="809244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Enforced strict authorization on receipt generation and S3 retrieval functions.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566928" y="5102352"/>
            <a:ext cx="11045952" cy="786384"/>
          </a:xfrm>
          <a:prstGeom prst="roundRect">
            <a:avLst>
              <a:gd name="adj" fmla="val 6977"/>
            </a:avLst>
          </a:prstGeom>
          <a:solidFill>
            <a:srgbClr val="111827">
              <a:alpha val="92000"/>
            </a:srgbClr>
          </a:solidFill>
          <a:ln w="12700">
            <a:solidFill>
              <a:srgbClr val="334155">
                <a:alpha val="8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4672" y="5266944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50" b="1" dirty="0">
                <a:solidFill>
                  <a:srgbClr val="22C5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✅ Verified By:</a:t>
            </a:r>
            <a:endParaRPr lang="en-US" sz="2050" dirty="0"/>
          </a:p>
        </p:txBody>
      </p:sp>
      <p:sp>
        <p:nvSpPr>
          <p:cNvPr id="21" name="Text 19"/>
          <p:cNvSpPr/>
          <p:nvPr/>
        </p:nvSpPr>
        <p:spPr>
          <a:xfrm>
            <a:off x="3182112" y="5202936"/>
            <a:ext cx="809244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Exploit access was denied; legitimate admin retrieval still worked.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11696"/>
            <a:ext cx="12191695" cy="36576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Lesson 4: INSECURE CLOUD CONFIGURATION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841248"/>
            <a:ext cx="1920240" cy="457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7395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ICS-344 DVSA Remediation | 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1005840"/>
            <a:ext cx="11045952" cy="786384"/>
          </a:xfrm>
          <a:prstGeom prst="roundRect">
            <a:avLst>
              <a:gd name="adj" fmla="val 6977"/>
            </a:avLst>
          </a:prstGeom>
          <a:solidFill>
            <a:srgbClr val="111827">
              <a:alpha val="92000"/>
            </a:srgbClr>
          </a:solidFill>
          <a:ln w="12700">
            <a:solidFill>
              <a:srgbClr val="334155">
                <a:alpha val="8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1170432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5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🎯 What it is:</a:t>
            </a:r>
            <a:endParaRPr lang="en-US" sz="2050" dirty="0"/>
          </a:p>
        </p:txBody>
      </p:sp>
      <p:sp>
        <p:nvSpPr>
          <p:cNvPr id="9" name="Text 7"/>
          <p:cNvSpPr/>
          <p:nvPr/>
        </p:nvSpPr>
        <p:spPr>
          <a:xfrm>
            <a:off x="3182112" y="1106424"/>
            <a:ext cx="809244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Feedback S3 bucket was publicly exposed for anonymous read and upload.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66928" y="2029968"/>
            <a:ext cx="11045952" cy="786384"/>
          </a:xfrm>
          <a:prstGeom prst="roundRect">
            <a:avLst>
              <a:gd name="adj" fmla="val 6977"/>
            </a:avLst>
          </a:prstGeom>
          <a:solidFill>
            <a:srgbClr val="162033">
              <a:alpha val="92000"/>
            </a:srgbClr>
          </a:solidFill>
          <a:ln w="12700">
            <a:solidFill>
              <a:srgbClr val="334155">
                <a:alpha val="8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" y="2194560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50" b="1" dirty="0">
                <a:solidFill>
                  <a:srgbClr val="A78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🔓 Root Cause:</a:t>
            </a:r>
            <a:endParaRPr lang="en-US" sz="2050" dirty="0"/>
          </a:p>
        </p:txBody>
      </p:sp>
      <p:sp>
        <p:nvSpPr>
          <p:cNvPr id="12" name="Text 10"/>
          <p:cNvSpPr/>
          <p:nvPr/>
        </p:nvSpPr>
        <p:spPr>
          <a:xfrm>
            <a:off x="3182112" y="2130552"/>
            <a:ext cx="809244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Block Public Access disabled; bucket policy allowed *; CORS allowed all origins.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66928" y="3054096"/>
            <a:ext cx="11045952" cy="786384"/>
          </a:xfrm>
          <a:prstGeom prst="roundRect">
            <a:avLst>
              <a:gd name="adj" fmla="val 6977"/>
            </a:avLst>
          </a:prstGeom>
          <a:solidFill>
            <a:srgbClr val="111827">
              <a:alpha val="92000"/>
            </a:srgbClr>
          </a:solidFill>
          <a:ln w="12700">
            <a:solidFill>
              <a:srgbClr val="334155">
                <a:alpha val="8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4672" y="3218688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50" b="1" dirty="0">
                <a:solidFill>
                  <a:srgbClr val="F43F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💥 Impact:</a:t>
            </a:r>
            <a:endParaRPr lang="en-US" sz="2050" dirty="0"/>
          </a:p>
        </p:txBody>
      </p:sp>
      <p:sp>
        <p:nvSpPr>
          <p:cNvPr id="15" name="Text 13"/>
          <p:cNvSpPr/>
          <p:nvPr/>
        </p:nvSpPr>
        <p:spPr>
          <a:xfrm>
            <a:off x="3182112" y="3154680"/>
            <a:ext cx="809244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Anyone on the internet could read, write, or delete feedback objects.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66928" y="4078224"/>
            <a:ext cx="11045952" cy="786384"/>
          </a:xfrm>
          <a:prstGeom prst="roundRect">
            <a:avLst>
              <a:gd name="adj" fmla="val 6977"/>
            </a:avLst>
          </a:prstGeom>
          <a:solidFill>
            <a:srgbClr val="162033">
              <a:alpha val="92000"/>
            </a:srgbClr>
          </a:solidFill>
          <a:ln w="12700">
            <a:solidFill>
              <a:srgbClr val="334155">
                <a:alpha val="8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4672" y="4242816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5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🛠️ Fix Applied:</a:t>
            </a:r>
            <a:endParaRPr lang="en-US" sz="2050" dirty="0"/>
          </a:p>
        </p:txBody>
      </p:sp>
      <p:sp>
        <p:nvSpPr>
          <p:cNvPr id="18" name="Text 16"/>
          <p:cNvSpPr/>
          <p:nvPr/>
        </p:nvSpPr>
        <p:spPr>
          <a:xfrm>
            <a:off x="3182112" y="4178808"/>
            <a:ext cx="809244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Enabled Block Public Access, restricted policy, and limited CORS to DVSA domain.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566928" y="5102352"/>
            <a:ext cx="11045952" cy="786384"/>
          </a:xfrm>
          <a:prstGeom prst="roundRect">
            <a:avLst>
              <a:gd name="adj" fmla="val 6977"/>
            </a:avLst>
          </a:prstGeom>
          <a:solidFill>
            <a:srgbClr val="111827">
              <a:alpha val="92000"/>
            </a:srgbClr>
          </a:solidFill>
          <a:ln w="12700">
            <a:solidFill>
              <a:srgbClr val="334155">
                <a:alpha val="8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4672" y="5266944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50" b="1" dirty="0">
                <a:solidFill>
                  <a:srgbClr val="22C5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✅ Verified By:</a:t>
            </a:r>
            <a:endParaRPr lang="en-US" sz="2050" dirty="0"/>
          </a:p>
        </p:txBody>
      </p:sp>
      <p:sp>
        <p:nvSpPr>
          <p:cNvPr id="21" name="Text 19"/>
          <p:cNvSpPr/>
          <p:nvPr/>
        </p:nvSpPr>
        <p:spPr>
          <a:xfrm>
            <a:off x="3182112" y="5202936"/>
            <a:ext cx="809244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Anonymous upload returned 403 Forbidden; DVSA feedback still worked.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11696"/>
            <a:ext cx="12191695" cy="36576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Lesson 5: BROKEN ACCESS CONTROL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841248"/>
            <a:ext cx="1920240" cy="457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7395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ICS-344 DVSA Remediation | 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1005840"/>
            <a:ext cx="11045952" cy="786384"/>
          </a:xfrm>
          <a:prstGeom prst="roundRect">
            <a:avLst>
              <a:gd name="adj" fmla="val 6977"/>
            </a:avLst>
          </a:prstGeom>
          <a:solidFill>
            <a:srgbClr val="111827">
              <a:alpha val="92000"/>
            </a:srgbClr>
          </a:solidFill>
          <a:ln w="12700">
            <a:solidFill>
              <a:srgbClr val="334155">
                <a:alpha val="8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1170432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5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🎯 What it is:</a:t>
            </a:r>
            <a:endParaRPr lang="en-US" sz="2050" dirty="0"/>
          </a:p>
        </p:txBody>
      </p:sp>
      <p:sp>
        <p:nvSpPr>
          <p:cNvPr id="9" name="Text 7"/>
          <p:cNvSpPr/>
          <p:nvPr/>
        </p:nvSpPr>
        <p:spPr>
          <a:xfrm>
            <a:off x="3182112" y="1106424"/>
            <a:ext cx="809244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Unprivileged users could directly invoke admin-only Lambda operations.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66928" y="2029968"/>
            <a:ext cx="11045952" cy="786384"/>
          </a:xfrm>
          <a:prstGeom prst="roundRect">
            <a:avLst>
              <a:gd name="adj" fmla="val 6977"/>
            </a:avLst>
          </a:prstGeom>
          <a:solidFill>
            <a:srgbClr val="162033">
              <a:alpha val="92000"/>
            </a:srgbClr>
          </a:solidFill>
          <a:ln w="12700">
            <a:solidFill>
              <a:srgbClr val="334155">
                <a:alpha val="8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" y="2194560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50" b="1" dirty="0">
                <a:solidFill>
                  <a:srgbClr val="A78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🔓 Root Cause:</a:t>
            </a:r>
            <a:endParaRPr lang="en-US" sz="2050" dirty="0"/>
          </a:p>
        </p:txBody>
      </p:sp>
      <p:sp>
        <p:nvSpPr>
          <p:cNvPr id="12" name="Text 10"/>
          <p:cNvSpPr/>
          <p:nvPr/>
        </p:nvSpPr>
        <p:spPr>
          <a:xfrm>
            <a:off x="3182112" y="2130552"/>
            <a:ext cx="809244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API Lambda could invoke internal Lambdas without server-side role checks.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66928" y="3054096"/>
            <a:ext cx="11045952" cy="786384"/>
          </a:xfrm>
          <a:prstGeom prst="roundRect">
            <a:avLst>
              <a:gd name="adj" fmla="val 6977"/>
            </a:avLst>
          </a:prstGeom>
          <a:solidFill>
            <a:srgbClr val="111827">
              <a:alpha val="92000"/>
            </a:srgbClr>
          </a:solidFill>
          <a:ln w="12700">
            <a:solidFill>
              <a:srgbClr val="334155">
                <a:alpha val="8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4672" y="3218688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50" b="1" dirty="0">
                <a:solidFill>
                  <a:srgbClr val="F43F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💥 Impact:</a:t>
            </a:r>
            <a:endParaRPr lang="en-US" sz="2050" dirty="0"/>
          </a:p>
        </p:txBody>
      </p:sp>
      <p:sp>
        <p:nvSpPr>
          <p:cNvPr id="15" name="Text 13"/>
          <p:cNvSpPr/>
          <p:nvPr/>
        </p:nvSpPr>
        <p:spPr>
          <a:xfrm>
            <a:off x="3182112" y="3154680"/>
            <a:ext cx="809244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Regular users bypassed role separation and triggered privileged backend actions.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66928" y="4078224"/>
            <a:ext cx="11045952" cy="786384"/>
          </a:xfrm>
          <a:prstGeom prst="roundRect">
            <a:avLst>
              <a:gd name="adj" fmla="val 6977"/>
            </a:avLst>
          </a:prstGeom>
          <a:solidFill>
            <a:srgbClr val="162033">
              <a:alpha val="92000"/>
            </a:srgbClr>
          </a:solidFill>
          <a:ln w="12700">
            <a:solidFill>
              <a:srgbClr val="334155">
                <a:alpha val="8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4672" y="4242816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5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🛠️ Fix Applied:</a:t>
            </a:r>
            <a:endParaRPr lang="en-US" sz="2050" dirty="0"/>
          </a:p>
        </p:txBody>
      </p:sp>
      <p:sp>
        <p:nvSpPr>
          <p:cNvPr id="18" name="Text 16"/>
          <p:cNvSpPr/>
          <p:nvPr/>
        </p:nvSpPr>
        <p:spPr>
          <a:xfrm>
            <a:off x="3182112" y="4178808"/>
            <a:ext cx="809244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Added routing authorization before every privileged function invocation.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566928" y="5102352"/>
            <a:ext cx="11045952" cy="786384"/>
          </a:xfrm>
          <a:prstGeom prst="roundRect">
            <a:avLst>
              <a:gd name="adj" fmla="val 6977"/>
            </a:avLst>
          </a:prstGeom>
          <a:solidFill>
            <a:srgbClr val="111827">
              <a:alpha val="92000"/>
            </a:srgbClr>
          </a:solidFill>
          <a:ln w="12700">
            <a:solidFill>
              <a:srgbClr val="334155">
                <a:alpha val="8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4672" y="5266944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50" b="1" dirty="0">
                <a:solidFill>
                  <a:srgbClr val="22C5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✅ Verified By:</a:t>
            </a:r>
            <a:endParaRPr lang="en-US" sz="2050" dirty="0"/>
          </a:p>
        </p:txBody>
      </p:sp>
      <p:sp>
        <p:nvSpPr>
          <p:cNvPr id="21" name="Text 19"/>
          <p:cNvSpPr/>
          <p:nvPr/>
        </p:nvSpPr>
        <p:spPr>
          <a:xfrm>
            <a:off x="3182112" y="5202936"/>
            <a:ext cx="809244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Unauthorized invoke returned an authorization error; admin workflows still passed.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11696"/>
            <a:ext cx="12191695" cy="36576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Lesson 6: DENIAL OF SERVICE (MISSING RATE LIMITING)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66928" y="841248"/>
            <a:ext cx="1920240" cy="457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7395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ICS-344 DVSA Remediation | 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1005840"/>
            <a:ext cx="11045952" cy="786384"/>
          </a:xfrm>
          <a:prstGeom prst="roundRect">
            <a:avLst>
              <a:gd name="adj" fmla="val 6977"/>
            </a:avLst>
          </a:prstGeom>
          <a:solidFill>
            <a:srgbClr val="111827">
              <a:alpha val="92000"/>
            </a:srgbClr>
          </a:solidFill>
          <a:ln w="12700">
            <a:solidFill>
              <a:srgbClr val="334155">
                <a:alpha val="8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1170432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5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🎯 What it is:</a:t>
            </a:r>
            <a:endParaRPr lang="en-US" sz="2050" dirty="0"/>
          </a:p>
        </p:txBody>
      </p:sp>
      <p:sp>
        <p:nvSpPr>
          <p:cNvPr id="9" name="Text 7"/>
          <p:cNvSpPr/>
          <p:nvPr/>
        </p:nvSpPr>
        <p:spPr>
          <a:xfrm>
            <a:off x="3182112" y="1106424"/>
            <a:ext cx="809244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Authenticated user flooded /order with concurrent requests until service degraded.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66928" y="2029968"/>
            <a:ext cx="11045952" cy="786384"/>
          </a:xfrm>
          <a:prstGeom prst="roundRect">
            <a:avLst>
              <a:gd name="adj" fmla="val 6977"/>
            </a:avLst>
          </a:prstGeom>
          <a:solidFill>
            <a:srgbClr val="162033">
              <a:alpha val="92000"/>
            </a:srgbClr>
          </a:solidFill>
          <a:ln w="12700">
            <a:solidFill>
              <a:srgbClr val="334155">
                <a:alpha val="8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" y="2194560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50" b="1" dirty="0">
                <a:solidFill>
                  <a:srgbClr val="A78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🔓 Root Cause:</a:t>
            </a:r>
            <a:endParaRPr lang="en-US" sz="2050" dirty="0"/>
          </a:p>
        </p:txBody>
      </p:sp>
      <p:sp>
        <p:nvSpPr>
          <p:cNvPr id="12" name="Text 10"/>
          <p:cNvSpPr/>
          <p:nvPr/>
        </p:nvSpPr>
        <p:spPr>
          <a:xfrm>
            <a:off x="3182112" y="2130552"/>
            <a:ext cx="809244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No API Gateway throttling and no Lambda reserved concurrency controls.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66928" y="3054096"/>
            <a:ext cx="11045952" cy="786384"/>
          </a:xfrm>
          <a:prstGeom prst="roundRect">
            <a:avLst>
              <a:gd name="adj" fmla="val 6977"/>
            </a:avLst>
          </a:prstGeom>
          <a:solidFill>
            <a:srgbClr val="111827">
              <a:alpha val="92000"/>
            </a:srgbClr>
          </a:solidFill>
          <a:ln w="12700">
            <a:solidFill>
              <a:srgbClr val="334155">
                <a:alpha val="8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4672" y="3218688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50" b="1" dirty="0">
                <a:solidFill>
                  <a:srgbClr val="F43F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💥 Impact:</a:t>
            </a:r>
            <a:endParaRPr lang="en-US" sz="2050" dirty="0"/>
          </a:p>
        </p:txBody>
      </p:sp>
      <p:sp>
        <p:nvSpPr>
          <p:cNvPr id="15" name="Text 13"/>
          <p:cNvSpPr/>
          <p:nvPr/>
        </p:nvSpPr>
        <p:spPr>
          <a:xfrm>
            <a:off x="3182112" y="3154680"/>
            <a:ext cx="809244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500 concurrent requests caused throttling errors and disrupted orders.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66928" y="4078224"/>
            <a:ext cx="11045952" cy="786384"/>
          </a:xfrm>
          <a:prstGeom prst="roundRect">
            <a:avLst>
              <a:gd name="adj" fmla="val 6977"/>
            </a:avLst>
          </a:prstGeom>
          <a:solidFill>
            <a:srgbClr val="162033">
              <a:alpha val="92000"/>
            </a:srgbClr>
          </a:solidFill>
          <a:ln w="12700">
            <a:solidFill>
              <a:srgbClr val="334155">
                <a:alpha val="8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4672" y="4242816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5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🛠️ Fix Applied:</a:t>
            </a:r>
            <a:endParaRPr lang="en-US" sz="2050" dirty="0"/>
          </a:p>
        </p:txBody>
      </p:sp>
      <p:sp>
        <p:nvSpPr>
          <p:cNvPr id="18" name="Text 16"/>
          <p:cNvSpPr/>
          <p:nvPr/>
        </p:nvSpPr>
        <p:spPr>
          <a:xfrm>
            <a:off x="3182112" y="4178808"/>
            <a:ext cx="809244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Configured stage rate/burst limits and reserved concurrency on target Lambda.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566928" y="5102352"/>
            <a:ext cx="11045952" cy="786384"/>
          </a:xfrm>
          <a:prstGeom prst="roundRect">
            <a:avLst>
              <a:gd name="adj" fmla="val 6977"/>
            </a:avLst>
          </a:prstGeom>
          <a:solidFill>
            <a:srgbClr val="111827">
              <a:alpha val="92000"/>
            </a:srgbClr>
          </a:solidFill>
          <a:ln w="12700">
            <a:solidFill>
              <a:srgbClr val="334155">
                <a:alpha val="8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4672" y="5266944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50" b="1" dirty="0">
                <a:solidFill>
                  <a:srgbClr val="22C5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✅ Verified By:</a:t>
            </a:r>
            <a:endParaRPr lang="en-US" sz="2050" dirty="0"/>
          </a:p>
        </p:txBody>
      </p:sp>
      <p:sp>
        <p:nvSpPr>
          <p:cNvPr id="21" name="Text 19"/>
          <p:cNvSpPr/>
          <p:nvPr/>
        </p:nvSpPr>
        <p:spPr>
          <a:xfrm>
            <a:off x="3182112" y="5202936"/>
            <a:ext cx="809244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Repeat flood produced 429 Too Many Requests; normal requests still succeeded.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11696"/>
            <a:ext cx="12191695" cy="36576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Lesson 7: OVER-PRIVILEGED FUNCTION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841248"/>
            <a:ext cx="1920240" cy="457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7395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ICS-344 DVSA Remediation | 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1005840"/>
            <a:ext cx="11045952" cy="786384"/>
          </a:xfrm>
          <a:prstGeom prst="roundRect">
            <a:avLst>
              <a:gd name="adj" fmla="val 6977"/>
            </a:avLst>
          </a:prstGeom>
          <a:solidFill>
            <a:srgbClr val="111827">
              <a:alpha val="92000"/>
            </a:srgbClr>
          </a:solidFill>
          <a:ln w="12700">
            <a:solidFill>
              <a:srgbClr val="334155">
                <a:alpha val="8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1170432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5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🎯 What it is:</a:t>
            </a:r>
            <a:endParaRPr lang="en-US" sz="2050" dirty="0"/>
          </a:p>
        </p:txBody>
      </p:sp>
      <p:sp>
        <p:nvSpPr>
          <p:cNvPr id="9" name="Text 7"/>
          <p:cNvSpPr/>
          <p:nvPr/>
        </p:nvSpPr>
        <p:spPr>
          <a:xfrm>
            <a:off x="3182112" y="1106424"/>
            <a:ext cx="809244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DVSA-SEND-RECEIPT-EMAIL role had far more IAM permissions than required.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66928" y="2029968"/>
            <a:ext cx="11045952" cy="786384"/>
          </a:xfrm>
          <a:prstGeom prst="roundRect">
            <a:avLst>
              <a:gd name="adj" fmla="val 6977"/>
            </a:avLst>
          </a:prstGeom>
          <a:solidFill>
            <a:srgbClr val="162033">
              <a:alpha val="92000"/>
            </a:srgbClr>
          </a:solidFill>
          <a:ln w="12700">
            <a:solidFill>
              <a:srgbClr val="334155">
                <a:alpha val="8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" y="2194560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50" b="1" dirty="0">
                <a:solidFill>
                  <a:srgbClr val="A78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🔓 Root Cause:</a:t>
            </a:r>
            <a:endParaRPr lang="en-US" sz="2050" dirty="0"/>
          </a:p>
        </p:txBody>
      </p:sp>
      <p:sp>
        <p:nvSpPr>
          <p:cNvPr id="12" name="Text 10"/>
          <p:cNvSpPr/>
          <p:nvPr/>
        </p:nvSpPr>
        <p:spPr>
          <a:xfrm>
            <a:off x="3182112" y="2130552"/>
            <a:ext cx="809244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Execution role included broad S3, DynamoDB, and unrelated service access.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66928" y="3054096"/>
            <a:ext cx="11045952" cy="786384"/>
          </a:xfrm>
          <a:prstGeom prst="roundRect">
            <a:avLst>
              <a:gd name="adj" fmla="val 6977"/>
            </a:avLst>
          </a:prstGeom>
          <a:solidFill>
            <a:srgbClr val="111827">
              <a:alpha val="92000"/>
            </a:srgbClr>
          </a:solidFill>
          <a:ln w="12700">
            <a:solidFill>
              <a:srgbClr val="334155">
                <a:alpha val="8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4672" y="3218688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50" b="1" dirty="0">
                <a:solidFill>
                  <a:srgbClr val="F43F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💥 Impact:</a:t>
            </a:r>
            <a:endParaRPr lang="en-US" sz="2050" dirty="0"/>
          </a:p>
        </p:txBody>
      </p:sp>
      <p:sp>
        <p:nvSpPr>
          <p:cNvPr id="15" name="Text 13"/>
          <p:cNvSpPr/>
          <p:nvPr/>
        </p:nvSpPr>
        <p:spPr>
          <a:xfrm>
            <a:off x="3182112" y="3154680"/>
            <a:ext cx="809244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Compromised function could read, modify, or delete data across cloud resources.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66928" y="4078224"/>
            <a:ext cx="11045952" cy="786384"/>
          </a:xfrm>
          <a:prstGeom prst="roundRect">
            <a:avLst>
              <a:gd name="adj" fmla="val 6977"/>
            </a:avLst>
          </a:prstGeom>
          <a:solidFill>
            <a:srgbClr val="162033">
              <a:alpha val="92000"/>
            </a:srgbClr>
          </a:solidFill>
          <a:ln w="12700">
            <a:solidFill>
              <a:srgbClr val="334155">
                <a:alpha val="8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4672" y="4242816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5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🛠️ Fix Applied:</a:t>
            </a:r>
            <a:endParaRPr lang="en-US" sz="2050" dirty="0"/>
          </a:p>
        </p:txBody>
      </p:sp>
      <p:sp>
        <p:nvSpPr>
          <p:cNvPr id="18" name="Text 16"/>
          <p:cNvSpPr/>
          <p:nvPr/>
        </p:nvSpPr>
        <p:spPr>
          <a:xfrm>
            <a:off x="3182112" y="4178808"/>
            <a:ext cx="809244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Applied least privilege: only exact S3 objects, SES actions, and needed resources.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566928" y="5102352"/>
            <a:ext cx="11045952" cy="786384"/>
          </a:xfrm>
          <a:prstGeom prst="roundRect">
            <a:avLst>
              <a:gd name="adj" fmla="val 6977"/>
            </a:avLst>
          </a:prstGeom>
          <a:solidFill>
            <a:srgbClr val="111827">
              <a:alpha val="92000"/>
            </a:srgbClr>
          </a:solidFill>
          <a:ln w="12700">
            <a:solidFill>
              <a:srgbClr val="334155">
                <a:alpha val="8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4672" y="5266944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50" b="1" dirty="0">
                <a:solidFill>
                  <a:srgbClr val="22C5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✅ Verified By:</a:t>
            </a:r>
            <a:endParaRPr lang="en-US" sz="2050" dirty="0"/>
          </a:p>
        </p:txBody>
      </p:sp>
      <p:sp>
        <p:nvSpPr>
          <p:cNvPr id="21" name="Text 19"/>
          <p:cNvSpPr/>
          <p:nvPr/>
        </p:nvSpPr>
        <p:spPr>
          <a:xfrm>
            <a:off x="3182112" y="5202936"/>
            <a:ext cx="809244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IAM Policy Simulator denied unauthorized access; email sending still worked.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11696"/>
            <a:ext cx="12191695" cy="36576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Lesson 8: LOGIC VULNERABILITY (RACE CONDITION)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66928" y="841248"/>
            <a:ext cx="1920240" cy="457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7395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ICS-344 DVSA Remediation | 11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1005840"/>
            <a:ext cx="11045952" cy="786384"/>
          </a:xfrm>
          <a:prstGeom prst="roundRect">
            <a:avLst>
              <a:gd name="adj" fmla="val 6977"/>
            </a:avLst>
          </a:prstGeom>
          <a:solidFill>
            <a:srgbClr val="111827">
              <a:alpha val="92000"/>
            </a:srgbClr>
          </a:solidFill>
          <a:ln w="12700">
            <a:solidFill>
              <a:srgbClr val="334155">
                <a:alpha val="8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1170432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5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🎯 What it is:</a:t>
            </a:r>
            <a:endParaRPr lang="en-US" sz="2050" dirty="0"/>
          </a:p>
        </p:txBody>
      </p:sp>
      <p:sp>
        <p:nvSpPr>
          <p:cNvPr id="9" name="Text 7"/>
          <p:cNvSpPr/>
          <p:nvPr/>
        </p:nvSpPr>
        <p:spPr>
          <a:xfrm>
            <a:off x="3182112" y="1106424"/>
            <a:ext cx="809244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Concurrent billing and cart-update requests can alter the order after billing starts.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66928" y="2029968"/>
            <a:ext cx="11045952" cy="786384"/>
          </a:xfrm>
          <a:prstGeom prst="roundRect">
            <a:avLst>
              <a:gd name="adj" fmla="val 6977"/>
            </a:avLst>
          </a:prstGeom>
          <a:solidFill>
            <a:srgbClr val="162033">
              <a:alpha val="92000"/>
            </a:srgbClr>
          </a:solidFill>
          <a:ln w="12700">
            <a:solidFill>
              <a:srgbClr val="334155">
                <a:alpha val="8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" y="2194560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50" b="1" dirty="0">
                <a:solidFill>
                  <a:srgbClr val="A78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🔓 Root Cause:</a:t>
            </a:r>
            <a:endParaRPr lang="en-US" sz="2050" dirty="0"/>
          </a:p>
        </p:txBody>
      </p:sp>
      <p:sp>
        <p:nvSpPr>
          <p:cNvPr id="12" name="Text 10"/>
          <p:cNvSpPr/>
          <p:nvPr/>
        </p:nvSpPr>
        <p:spPr>
          <a:xfrm>
            <a:off x="3182112" y="2130552"/>
            <a:ext cx="809244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Order billing and update Lambdas ran concurrently with no state lock.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66928" y="3054096"/>
            <a:ext cx="11045952" cy="786384"/>
          </a:xfrm>
          <a:prstGeom prst="roundRect">
            <a:avLst>
              <a:gd name="adj" fmla="val 6977"/>
            </a:avLst>
          </a:prstGeom>
          <a:solidFill>
            <a:srgbClr val="111827">
              <a:alpha val="92000"/>
            </a:srgbClr>
          </a:solidFill>
          <a:ln w="12700">
            <a:solidFill>
              <a:srgbClr val="334155">
                <a:alpha val="8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4672" y="3218688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50" b="1" dirty="0">
                <a:solidFill>
                  <a:srgbClr val="F43F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💥 Impact:</a:t>
            </a:r>
            <a:endParaRPr lang="en-US" sz="2050" dirty="0"/>
          </a:p>
        </p:txBody>
      </p:sp>
      <p:sp>
        <p:nvSpPr>
          <p:cNvPr id="15" name="Text 13"/>
          <p:cNvSpPr/>
          <p:nvPr/>
        </p:nvSpPr>
        <p:spPr>
          <a:xfrm>
            <a:off x="3182112" y="3154680"/>
            <a:ext cx="809244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Attacker could pay for a cheap cart and receive a more expensive cart.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66928" y="4078224"/>
            <a:ext cx="11045952" cy="786384"/>
          </a:xfrm>
          <a:prstGeom prst="roundRect">
            <a:avLst>
              <a:gd name="adj" fmla="val 6977"/>
            </a:avLst>
          </a:prstGeom>
          <a:solidFill>
            <a:srgbClr val="162033">
              <a:alpha val="92000"/>
            </a:srgbClr>
          </a:solidFill>
          <a:ln w="12700">
            <a:solidFill>
              <a:srgbClr val="334155">
                <a:alpha val="8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4672" y="4242816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5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🛠️ Fix Applied:</a:t>
            </a:r>
            <a:endParaRPr lang="en-US" sz="2050" dirty="0"/>
          </a:p>
        </p:txBody>
      </p:sp>
      <p:sp>
        <p:nvSpPr>
          <p:cNvPr id="18" name="Text 16"/>
          <p:cNvSpPr/>
          <p:nvPr/>
        </p:nvSpPr>
        <p:spPr>
          <a:xfrm>
            <a:off x="3182112" y="4178808"/>
            <a:ext cx="809244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Billing atomically moves status to billing; updates allowed only while pending.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566928" y="5102352"/>
            <a:ext cx="11045952" cy="786384"/>
          </a:xfrm>
          <a:prstGeom prst="roundRect">
            <a:avLst>
              <a:gd name="adj" fmla="val 6977"/>
            </a:avLst>
          </a:prstGeom>
          <a:solidFill>
            <a:srgbClr val="111827">
              <a:alpha val="92000"/>
            </a:srgbClr>
          </a:solidFill>
          <a:ln w="12700">
            <a:solidFill>
              <a:srgbClr val="334155">
                <a:alpha val="8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4672" y="5266944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50" b="1" dirty="0">
                <a:solidFill>
                  <a:srgbClr val="22C5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✅ Verified By:</a:t>
            </a:r>
            <a:endParaRPr lang="en-US" sz="2050" dirty="0"/>
          </a:p>
        </p:txBody>
      </p:sp>
      <p:sp>
        <p:nvSpPr>
          <p:cNvPr id="21" name="Text 19"/>
          <p:cNvSpPr/>
          <p:nvPr/>
        </p:nvSpPr>
        <p:spPr>
          <a:xfrm>
            <a:off x="3182112" y="5202936"/>
            <a:ext cx="809244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Concurrent update returned conflict; normal sequential order flow still completed.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11696"/>
            <a:ext cx="12191695" cy="36576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Lesson 9: VULNERABLE DEPENDENCIES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841248"/>
            <a:ext cx="1920240" cy="457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7395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ICS-344 DVSA Remediation | 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1005840"/>
            <a:ext cx="11045952" cy="786384"/>
          </a:xfrm>
          <a:prstGeom prst="roundRect">
            <a:avLst>
              <a:gd name="adj" fmla="val 6977"/>
            </a:avLst>
          </a:prstGeom>
          <a:solidFill>
            <a:srgbClr val="111827">
              <a:alpha val="92000"/>
            </a:srgbClr>
          </a:solidFill>
          <a:ln w="12700">
            <a:solidFill>
              <a:srgbClr val="334155">
                <a:alpha val="8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1170432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5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🎯 What it is:</a:t>
            </a:r>
            <a:endParaRPr lang="en-US" sz="2050" dirty="0"/>
          </a:p>
        </p:txBody>
      </p:sp>
      <p:sp>
        <p:nvSpPr>
          <p:cNvPr id="9" name="Text 7"/>
          <p:cNvSpPr/>
          <p:nvPr/>
        </p:nvSpPr>
        <p:spPr>
          <a:xfrm>
            <a:off x="3182112" y="1106424"/>
            <a:ext cx="809244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Backend used node-serialize, a dangerous package for untrusted deserialization.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66928" y="2029968"/>
            <a:ext cx="11045952" cy="786384"/>
          </a:xfrm>
          <a:prstGeom prst="roundRect">
            <a:avLst>
              <a:gd name="adj" fmla="val 6977"/>
            </a:avLst>
          </a:prstGeom>
          <a:solidFill>
            <a:srgbClr val="162033">
              <a:alpha val="92000"/>
            </a:srgbClr>
          </a:solidFill>
          <a:ln w="12700">
            <a:solidFill>
              <a:srgbClr val="334155">
                <a:alpha val="8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" y="2194560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50" b="1" dirty="0">
                <a:solidFill>
                  <a:srgbClr val="A78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🔓 Root Cause:</a:t>
            </a:r>
            <a:endParaRPr lang="en-US" sz="2050" dirty="0"/>
          </a:p>
        </p:txBody>
      </p:sp>
      <p:sp>
        <p:nvSpPr>
          <p:cNvPr id="12" name="Text 10"/>
          <p:cNvSpPr/>
          <p:nvPr/>
        </p:nvSpPr>
        <p:spPr>
          <a:xfrm>
            <a:off x="3182112" y="2130552"/>
            <a:ext cx="809244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No dependency review, no version control discipline, and no audit gate.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66928" y="3054096"/>
            <a:ext cx="11045952" cy="786384"/>
          </a:xfrm>
          <a:prstGeom prst="roundRect">
            <a:avLst>
              <a:gd name="adj" fmla="val 6977"/>
            </a:avLst>
          </a:prstGeom>
          <a:solidFill>
            <a:srgbClr val="111827">
              <a:alpha val="92000"/>
            </a:srgbClr>
          </a:solidFill>
          <a:ln w="12700">
            <a:solidFill>
              <a:srgbClr val="334155">
                <a:alpha val="8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4672" y="3218688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50" b="1" dirty="0">
                <a:solidFill>
                  <a:srgbClr val="F43F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💥 Impact:</a:t>
            </a:r>
            <a:endParaRPr lang="en-US" sz="2050" dirty="0"/>
          </a:p>
        </p:txBody>
      </p:sp>
      <p:sp>
        <p:nvSpPr>
          <p:cNvPr id="15" name="Text 13"/>
          <p:cNvSpPr/>
          <p:nvPr/>
        </p:nvSpPr>
        <p:spPr>
          <a:xfrm>
            <a:off x="3182112" y="3154680"/>
            <a:ext cx="809244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Package enabled the Remote Code Execution chain from Lesson 1.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66928" y="4078224"/>
            <a:ext cx="11045952" cy="786384"/>
          </a:xfrm>
          <a:prstGeom prst="roundRect">
            <a:avLst>
              <a:gd name="adj" fmla="val 6977"/>
            </a:avLst>
          </a:prstGeom>
          <a:solidFill>
            <a:srgbClr val="162033">
              <a:alpha val="92000"/>
            </a:srgbClr>
          </a:solidFill>
          <a:ln w="12700">
            <a:solidFill>
              <a:srgbClr val="334155">
                <a:alpha val="8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4672" y="4242816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5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🛠️ Fix Applied:</a:t>
            </a:r>
            <a:endParaRPr lang="en-US" sz="2050" dirty="0"/>
          </a:p>
        </p:txBody>
      </p:sp>
      <p:sp>
        <p:nvSpPr>
          <p:cNvPr id="18" name="Text 16"/>
          <p:cNvSpPr/>
          <p:nvPr/>
        </p:nvSpPr>
        <p:spPr>
          <a:xfrm>
            <a:off x="3182112" y="4178808"/>
            <a:ext cx="809244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Removed node-serialize; used JSON.parse(); added npm audit to CI.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566928" y="5102352"/>
            <a:ext cx="11045952" cy="786384"/>
          </a:xfrm>
          <a:prstGeom prst="roundRect">
            <a:avLst>
              <a:gd name="adj" fmla="val 6977"/>
            </a:avLst>
          </a:prstGeom>
          <a:solidFill>
            <a:srgbClr val="111827">
              <a:alpha val="92000"/>
            </a:srgbClr>
          </a:solidFill>
          <a:ln w="12700">
            <a:solidFill>
              <a:srgbClr val="334155">
                <a:alpha val="8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4672" y="5266944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50" b="1" dirty="0">
                <a:solidFill>
                  <a:srgbClr val="22C5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✅ Verified By:</a:t>
            </a:r>
            <a:endParaRPr lang="en-US" sz="2050" dirty="0"/>
          </a:p>
        </p:txBody>
      </p:sp>
      <p:sp>
        <p:nvSpPr>
          <p:cNvPr id="21" name="Text 19"/>
          <p:cNvSpPr/>
          <p:nvPr/>
        </p:nvSpPr>
        <p:spPr>
          <a:xfrm>
            <a:off x="3182112" y="5202936"/>
            <a:ext cx="809244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npm audit showed zero critical findings; RCE payload was rejected.</a:t>
            </a:r>
            <a:endParaRPr 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11696"/>
            <a:ext cx="12191695" cy="36576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Lesson 10: UNHANDLED EXCEPTIONS / IMPROPER ERROR HANDLING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66928" y="841248"/>
            <a:ext cx="1920240" cy="457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7395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ICS-344 DVSA Remediation | 13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1005840"/>
            <a:ext cx="11045952" cy="786384"/>
          </a:xfrm>
          <a:prstGeom prst="roundRect">
            <a:avLst>
              <a:gd name="adj" fmla="val 6977"/>
            </a:avLst>
          </a:prstGeom>
          <a:solidFill>
            <a:srgbClr val="111827">
              <a:alpha val="92000"/>
            </a:srgbClr>
          </a:solidFill>
          <a:ln w="12700">
            <a:solidFill>
              <a:srgbClr val="334155">
                <a:alpha val="8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1170432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5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🎯 What it is:</a:t>
            </a:r>
            <a:endParaRPr lang="en-US" sz="2050" dirty="0"/>
          </a:p>
        </p:txBody>
      </p:sp>
      <p:sp>
        <p:nvSpPr>
          <p:cNvPr id="9" name="Text 7"/>
          <p:cNvSpPr/>
          <p:nvPr/>
        </p:nvSpPr>
        <p:spPr>
          <a:xfrm>
            <a:off x="3182112" y="1106424"/>
            <a:ext cx="809244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Malformed input caused seven Lambdas to return raw exception details to clients.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66928" y="2029968"/>
            <a:ext cx="11045952" cy="786384"/>
          </a:xfrm>
          <a:prstGeom prst="roundRect">
            <a:avLst>
              <a:gd name="adj" fmla="val 6977"/>
            </a:avLst>
          </a:prstGeom>
          <a:solidFill>
            <a:srgbClr val="162033">
              <a:alpha val="92000"/>
            </a:srgbClr>
          </a:solidFill>
          <a:ln w="12700">
            <a:solidFill>
              <a:srgbClr val="334155">
                <a:alpha val="8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" y="2194560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50" b="1" dirty="0">
                <a:solidFill>
                  <a:srgbClr val="A78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🔓 Root Cause:</a:t>
            </a:r>
            <a:endParaRPr lang="en-US" sz="2050" dirty="0"/>
          </a:p>
        </p:txBody>
      </p:sp>
      <p:sp>
        <p:nvSpPr>
          <p:cNvPr id="12" name="Text 10"/>
          <p:cNvSpPr/>
          <p:nvPr/>
        </p:nvSpPr>
        <p:spPr>
          <a:xfrm>
            <a:off x="3182112" y="2130552"/>
            <a:ext cx="809244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Handlers lacked try/except wrappers around order-processing logic.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66928" y="3054096"/>
            <a:ext cx="11045952" cy="786384"/>
          </a:xfrm>
          <a:prstGeom prst="roundRect">
            <a:avLst>
              <a:gd name="adj" fmla="val 6977"/>
            </a:avLst>
          </a:prstGeom>
          <a:solidFill>
            <a:srgbClr val="111827">
              <a:alpha val="92000"/>
            </a:srgbClr>
          </a:solidFill>
          <a:ln w="12700">
            <a:solidFill>
              <a:srgbClr val="334155">
                <a:alpha val="8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4672" y="3218688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50" b="1" dirty="0">
                <a:solidFill>
                  <a:srgbClr val="F43F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💥 Impact:</a:t>
            </a:r>
            <a:endParaRPr lang="en-US" sz="2050" dirty="0"/>
          </a:p>
        </p:txBody>
      </p:sp>
      <p:sp>
        <p:nvSpPr>
          <p:cNvPr id="15" name="Text 13"/>
          <p:cNvSpPr/>
          <p:nvPr/>
        </p:nvSpPr>
        <p:spPr>
          <a:xfrm>
            <a:off x="3182112" y="3154680"/>
            <a:ext cx="809244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Attackers learned stack traces, variable names, logic flow, and attack surfaces.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66928" y="4078224"/>
            <a:ext cx="11045952" cy="786384"/>
          </a:xfrm>
          <a:prstGeom prst="roundRect">
            <a:avLst>
              <a:gd name="adj" fmla="val 6977"/>
            </a:avLst>
          </a:prstGeom>
          <a:solidFill>
            <a:srgbClr val="162033">
              <a:alpha val="92000"/>
            </a:srgbClr>
          </a:solidFill>
          <a:ln w="12700">
            <a:solidFill>
              <a:srgbClr val="334155">
                <a:alpha val="8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4672" y="4242816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5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🛠️ Fix Applied:</a:t>
            </a:r>
            <a:endParaRPr lang="en-US" sz="2050" dirty="0"/>
          </a:p>
        </p:txBody>
      </p:sp>
      <p:sp>
        <p:nvSpPr>
          <p:cNvPr id="18" name="Text 16"/>
          <p:cNvSpPr/>
          <p:nvPr/>
        </p:nvSpPr>
        <p:spPr>
          <a:xfrm>
            <a:off x="3182112" y="4178808"/>
            <a:ext cx="809244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Wrapped handlers; clients receive generic errors; CloudWatch keeps diagnostics.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566928" y="5102352"/>
            <a:ext cx="11045952" cy="786384"/>
          </a:xfrm>
          <a:prstGeom prst="roundRect">
            <a:avLst>
              <a:gd name="adj" fmla="val 6977"/>
            </a:avLst>
          </a:prstGeom>
          <a:solidFill>
            <a:srgbClr val="111827">
              <a:alpha val="92000"/>
            </a:srgbClr>
          </a:solidFill>
          <a:ln w="12700">
            <a:solidFill>
              <a:srgbClr val="334155">
                <a:alpha val="8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4672" y="5266944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50" b="1" dirty="0">
                <a:solidFill>
                  <a:srgbClr val="22C5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✅ Verified By:</a:t>
            </a:r>
            <a:endParaRPr lang="en-US" sz="2050" dirty="0"/>
          </a:p>
        </p:txBody>
      </p:sp>
      <p:sp>
        <p:nvSpPr>
          <p:cNvPr id="21" name="Text 19"/>
          <p:cNvSpPr/>
          <p:nvPr/>
        </p:nvSpPr>
        <p:spPr>
          <a:xfrm>
            <a:off x="3182112" y="5202936"/>
            <a:ext cx="809244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Malformed requests returned only generic errors; full detail remained in logs.</a:t>
            </a:r>
            <a:endParaRPr 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11696"/>
            <a:ext cx="12191695" cy="36576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Summary Table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841248"/>
            <a:ext cx="1920240" cy="457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7395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ICS-344 DVSA Remediation | 14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38912" y="1024128"/>
            <a:ext cx="429768" cy="384048"/>
          </a:xfrm>
          <a:prstGeom prst="rect">
            <a:avLst/>
          </a:prstGeom>
          <a:solidFill>
            <a:srgbClr val="1E3A8A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060704"/>
            <a:ext cx="356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#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868680" y="1024128"/>
            <a:ext cx="2148840" cy="384048"/>
          </a:xfrm>
          <a:prstGeom prst="rect">
            <a:avLst/>
          </a:prstGeom>
          <a:solidFill>
            <a:srgbClr val="1E3A8A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05256" y="1060704"/>
            <a:ext cx="2075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Vulnerability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017520" y="1024128"/>
            <a:ext cx="2880360" cy="384048"/>
          </a:xfrm>
          <a:prstGeom prst="rect">
            <a:avLst/>
          </a:prstGeom>
          <a:solidFill>
            <a:srgbClr val="1E3A8A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54096" y="1060704"/>
            <a:ext cx="2807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Root Cause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897880" y="1024128"/>
            <a:ext cx="2432304" cy="384048"/>
          </a:xfrm>
          <a:prstGeom prst="rect">
            <a:avLst/>
          </a:prstGeom>
          <a:solidFill>
            <a:srgbClr val="1E3A8A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34456" y="1060704"/>
            <a:ext cx="23591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Impact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330184" y="1024128"/>
            <a:ext cx="3410712" cy="384048"/>
          </a:xfrm>
          <a:prstGeom prst="rect">
            <a:avLst/>
          </a:prstGeom>
          <a:solidFill>
            <a:srgbClr val="1E3A8A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66760" y="1060704"/>
            <a:ext cx="3337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Fix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38912" y="1408176"/>
            <a:ext cx="429768" cy="493776"/>
          </a:xfrm>
          <a:prstGeom prst="rect">
            <a:avLst/>
          </a:prstGeom>
          <a:solidFill>
            <a:srgbClr val="111827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" y="1444752"/>
            <a:ext cx="3566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5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15" dirty="0"/>
          </a:p>
        </p:txBody>
      </p:sp>
      <p:sp>
        <p:nvSpPr>
          <p:cNvPr id="19" name="Shape 17"/>
          <p:cNvSpPr/>
          <p:nvPr/>
        </p:nvSpPr>
        <p:spPr>
          <a:xfrm>
            <a:off x="868680" y="1408176"/>
            <a:ext cx="2148840" cy="493776"/>
          </a:xfrm>
          <a:prstGeom prst="rect">
            <a:avLst/>
          </a:prstGeom>
          <a:solidFill>
            <a:srgbClr val="111827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05256" y="1444752"/>
            <a:ext cx="2075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5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 Injection</a:t>
            </a:r>
            <a:endParaRPr lang="en-US" sz="915" dirty="0"/>
          </a:p>
        </p:txBody>
      </p:sp>
      <p:sp>
        <p:nvSpPr>
          <p:cNvPr id="21" name="Shape 19"/>
          <p:cNvSpPr/>
          <p:nvPr/>
        </p:nvSpPr>
        <p:spPr>
          <a:xfrm>
            <a:off x="3017520" y="1408176"/>
            <a:ext cx="2880360" cy="493776"/>
          </a:xfrm>
          <a:prstGeom prst="rect">
            <a:avLst/>
          </a:prstGeom>
          <a:solidFill>
            <a:srgbClr val="111827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054096" y="1444752"/>
            <a:ext cx="2807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5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node-serialize executes embedded JS</a:t>
            </a:r>
            <a:endParaRPr lang="en-US" sz="915" dirty="0"/>
          </a:p>
        </p:txBody>
      </p:sp>
      <p:sp>
        <p:nvSpPr>
          <p:cNvPr id="23" name="Shape 21"/>
          <p:cNvSpPr/>
          <p:nvPr/>
        </p:nvSpPr>
        <p:spPr>
          <a:xfrm>
            <a:off x="5897880" y="1408176"/>
            <a:ext cx="2432304" cy="493776"/>
          </a:xfrm>
          <a:prstGeom prst="rect">
            <a:avLst/>
          </a:prstGeom>
          <a:solidFill>
            <a:srgbClr val="111827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34456" y="1444752"/>
            <a:ext cx="23591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5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Full RCE in Lambda</a:t>
            </a:r>
            <a:endParaRPr lang="en-US" sz="915" dirty="0"/>
          </a:p>
        </p:txBody>
      </p:sp>
      <p:sp>
        <p:nvSpPr>
          <p:cNvPr id="25" name="Shape 23"/>
          <p:cNvSpPr/>
          <p:nvPr/>
        </p:nvSpPr>
        <p:spPr>
          <a:xfrm>
            <a:off x="8330184" y="1408176"/>
            <a:ext cx="3410712" cy="493776"/>
          </a:xfrm>
          <a:prstGeom prst="rect">
            <a:avLst/>
          </a:prstGeom>
          <a:solidFill>
            <a:srgbClr val="111827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366760" y="1444752"/>
            <a:ext cx="3337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5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JSON.parse + allowlist</a:t>
            </a:r>
            <a:endParaRPr lang="en-US" sz="915" dirty="0"/>
          </a:p>
        </p:txBody>
      </p:sp>
      <p:sp>
        <p:nvSpPr>
          <p:cNvPr id="27" name="Shape 25"/>
          <p:cNvSpPr/>
          <p:nvPr/>
        </p:nvSpPr>
        <p:spPr>
          <a:xfrm>
            <a:off x="438912" y="1901952"/>
            <a:ext cx="429768" cy="493776"/>
          </a:xfrm>
          <a:prstGeom prst="rect">
            <a:avLst/>
          </a:prstGeom>
          <a:solidFill>
            <a:srgbClr val="162033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" y="1938528"/>
            <a:ext cx="3566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5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15" dirty="0"/>
          </a:p>
        </p:txBody>
      </p:sp>
      <p:sp>
        <p:nvSpPr>
          <p:cNvPr id="29" name="Shape 27"/>
          <p:cNvSpPr/>
          <p:nvPr/>
        </p:nvSpPr>
        <p:spPr>
          <a:xfrm>
            <a:off x="868680" y="1901952"/>
            <a:ext cx="2148840" cy="493776"/>
          </a:xfrm>
          <a:prstGeom prst="rect">
            <a:avLst/>
          </a:prstGeom>
          <a:solidFill>
            <a:srgbClr val="162033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05256" y="1938528"/>
            <a:ext cx="2075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5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Broken Authentication</a:t>
            </a:r>
            <a:endParaRPr lang="en-US" sz="915" dirty="0"/>
          </a:p>
        </p:txBody>
      </p:sp>
      <p:sp>
        <p:nvSpPr>
          <p:cNvPr id="31" name="Shape 29"/>
          <p:cNvSpPr/>
          <p:nvPr/>
        </p:nvSpPr>
        <p:spPr>
          <a:xfrm>
            <a:off x="3017520" y="1901952"/>
            <a:ext cx="2880360" cy="493776"/>
          </a:xfrm>
          <a:prstGeom prst="rect">
            <a:avLst/>
          </a:prstGeom>
          <a:solidFill>
            <a:srgbClr val="162033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054096" y="1938528"/>
            <a:ext cx="2807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5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JWT signature verification</a:t>
            </a:r>
            <a:endParaRPr lang="en-US" sz="915" dirty="0"/>
          </a:p>
        </p:txBody>
      </p:sp>
      <p:sp>
        <p:nvSpPr>
          <p:cNvPr id="33" name="Shape 31"/>
          <p:cNvSpPr/>
          <p:nvPr/>
        </p:nvSpPr>
        <p:spPr>
          <a:xfrm>
            <a:off x="5897880" y="1901952"/>
            <a:ext cx="2432304" cy="493776"/>
          </a:xfrm>
          <a:prstGeom prst="rect">
            <a:avLst/>
          </a:prstGeom>
          <a:solidFill>
            <a:srgbClr val="162033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34456" y="1938528"/>
            <a:ext cx="23591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5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impersonation</a:t>
            </a:r>
            <a:endParaRPr lang="en-US" sz="915" dirty="0"/>
          </a:p>
        </p:txBody>
      </p:sp>
      <p:sp>
        <p:nvSpPr>
          <p:cNvPr id="35" name="Shape 33"/>
          <p:cNvSpPr/>
          <p:nvPr/>
        </p:nvSpPr>
        <p:spPr>
          <a:xfrm>
            <a:off x="8330184" y="1901952"/>
            <a:ext cx="3410712" cy="493776"/>
          </a:xfrm>
          <a:prstGeom prst="rect">
            <a:avLst/>
          </a:prstGeom>
          <a:solidFill>
            <a:srgbClr val="162033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366760" y="1938528"/>
            <a:ext cx="3337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5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Verify Cognito JWKS signature</a:t>
            </a:r>
            <a:endParaRPr lang="en-US" sz="915" dirty="0"/>
          </a:p>
        </p:txBody>
      </p:sp>
      <p:sp>
        <p:nvSpPr>
          <p:cNvPr id="37" name="Shape 35"/>
          <p:cNvSpPr/>
          <p:nvPr/>
        </p:nvSpPr>
        <p:spPr>
          <a:xfrm>
            <a:off x="438912" y="2395728"/>
            <a:ext cx="429768" cy="493776"/>
          </a:xfrm>
          <a:prstGeom prst="rect">
            <a:avLst/>
          </a:prstGeom>
          <a:solidFill>
            <a:srgbClr val="111827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5488" y="2432304"/>
            <a:ext cx="3566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5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15" dirty="0"/>
          </a:p>
        </p:txBody>
      </p:sp>
      <p:sp>
        <p:nvSpPr>
          <p:cNvPr id="39" name="Shape 37"/>
          <p:cNvSpPr/>
          <p:nvPr/>
        </p:nvSpPr>
        <p:spPr>
          <a:xfrm>
            <a:off x="868680" y="2395728"/>
            <a:ext cx="2148840" cy="493776"/>
          </a:xfrm>
          <a:prstGeom prst="rect">
            <a:avLst/>
          </a:prstGeom>
          <a:solidFill>
            <a:srgbClr val="111827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05256" y="2432304"/>
            <a:ext cx="2075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5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Sensitive Data Exposure</a:t>
            </a:r>
            <a:endParaRPr lang="en-US" sz="915" dirty="0"/>
          </a:p>
        </p:txBody>
      </p:sp>
      <p:sp>
        <p:nvSpPr>
          <p:cNvPr id="41" name="Shape 39"/>
          <p:cNvSpPr/>
          <p:nvPr/>
        </p:nvSpPr>
        <p:spPr>
          <a:xfrm>
            <a:off x="3017520" y="2395728"/>
            <a:ext cx="2880360" cy="493776"/>
          </a:xfrm>
          <a:prstGeom prst="rect">
            <a:avLst/>
          </a:prstGeom>
          <a:solidFill>
            <a:srgbClr val="111827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054096" y="2432304"/>
            <a:ext cx="2807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5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authorization on admin Lambda</a:t>
            </a:r>
            <a:endParaRPr lang="en-US" sz="915" dirty="0"/>
          </a:p>
        </p:txBody>
      </p:sp>
      <p:sp>
        <p:nvSpPr>
          <p:cNvPr id="43" name="Shape 41"/>
          <p:cNvSpPr/>
          <p:nvPr/>
        </p:nvSpPr>
        <p:spPr>
          <a:xfrm>
            <a:off x="5897880" y="2395728"/>
            <a:ext cx="2432304" cy="493776"/>
          </a:xfrm>
          <a:prstGeom prst="rect">
            <a:avLst/>
          </a:prstGeom>
          <a:solidFill>
            <a:srgbClr val="111827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934456" y="2432304"/>
            <a:ext cx="23591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5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Unauthorized S3 receipt access</a:t>
            </a:r>
            <a:endParaRPr lang="en-US" sz="915" dirty="0"/>
          </a:p>
        </p:txBody>
      </p:sp>
      <p:sp>
        <p:nvSpPr>
          <p:cNvPr id="45" name="Shape 43"/>
          <p:cNvSpPr/>
          <p:nvPr/>
        </p:nvSpPr>
        <p:spPr>
          <a:xfrm>
            <a:off x="8330184" y="2395728"/>
            <a:ext cx="3410712" cy="493776"/>
          </a:xfrm>
          <a:prstGeom prst="rect">
            <a:avLst/>
          </a:prstGeom>
          <a:solidFill>
            <a:srgbClr val="111827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366760" y="2432304"/>
            <a:ext cx="3337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5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Access control on data functions</a:t>
            </a:r>
            <a:endParaRPr lang="en-US" sz="915" dirty="0"/>
          </a:p>
        </p:txBody>
      </p:sp>
      <p:sp>
        <p:nvSpPr>
          <p:cNvPr id="47" name="Shape 45"/>
          <p:cNvSpPr/>
          <p:nvPr/>
        </p:nvSpPr>
        <p:spPr>
          <a:xfrm>
            <a:off x="438912" y="2889504"/>
            <a:ext cx="429768" cy="493776"/>
          </a:xfrm>
          <a:prstGeom prst="rect">
            <a:avLst/>
          </a:prstGeom>
          <a:solidFill>
            <a:srgbClr val="162033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75488" y="2926080"/>
            <a:ext cx="3566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5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915" dirty="0"/>
          </a:p>
        </p:txBody>
      </p:sp>
      <p:sp>
        <p:nvSpPr>
          <p:cNvPr id="49" name="Shape 47"/>
          <p:cNvSpPr/>
          <p:nvPr/>
        </p:nvSpPr>
        <p:spPr>
          <a:xfrm>
            <a:off x="868680" y="2889504"/>
            <a:ext cx="2148840" cy="493776"/>
          </a:xfrm>
          <a:prstGeom prst="rect">
            <a:avLst/>
          </a:prstGeom>
          <a:solidFill>
            <a:srgbClr val="162033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05256" y="2926080"/>
            <a:ext cx="2075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5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Insecure Cloud Config</a:t>
            </a:r>
            <a:endParaRPr lang="en-US" sz="915" dirty="0"/>
          </a:p>
        </p:txBody>
      </p:sp>
      <p:sp>
        <p:nvSpPr>
          <p:cNvPr id="51" name="Shape 49"/>
          <p:cNvSpPr/>
          <p:nvPr/>
        </p:nvSpPr>
        <p:spPr>
          <a:xfrm>
            <a:off x="3017520" y="2889504"/>
            <a:ext cx="2880360" cy="493776"/>
          </a:xfrm>
          <a:prstGeom prst="rect">
            <a:avLst/>
          </a:prstGeom>
          <a:solidFill>
            <a:srgbClr val="162033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054096" y="2926080"/>
            <a:ext cx="2807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5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S3 bucket + open policy</a:t>
            </a:r>
            <a:endParaRPr lang="en-US" sz="915" dirty="0"/>
          </a:p>
        </p:txBody>
      </p:sp>
      <p:sp>
        <p:nvSpPr>
          <p:cNvPr id="53" name="Shape 51"/>
          <p:cNvSpPr/>
          <p:nvPr/>
        </p:nvSpPr>
        <p:spPr>
          <a:xfrm>
            <a:off x="5897880" y="2889504"/>
            <a:ext cx="2432304" cy="493776"/>
          </a:xfrm>
          <a:prstGeom prst="rect">
            <a:avLst/>
          </a:prstGeom>
          <a:solidFill>
            <a:srgbClr val="162033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934456" y="2926080"/>
            <a:ext cx="23591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5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Anonymous S3 read/write</a:t>
            </a:r>
            <a:endParaRPr lang="en-US" sz="915" dirty="0"/>
          </a:p>
        </p:txBody>
      </p:sp>
      <p:sp>
        <p:nvSpPr>
          <p:cNvPr id="55" name="Shape 53"/>
          <p:cNvSpPr/>
          <p:nvPr/>
        </p:nvSpPr>
        <p:spPr>
          <a:xfrm>
            <a:off x="8330184" y="2889504"/>
            <a:ext cx="3410712" cy="493776"/>
          </a:xfrm>
          <a:prstGeom prst="rect">
            <a:avLst/>
          </a:prstGeom>
          <a:solidFill>
            <a:srgbClr val="162033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366760" y="2926080"/>
            <a:ext cx="3337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5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Block Public Access + restrict policy</a:t>
            </a:r>
            <a:endParaRPr lang="en-US" sz="915" dirty="0"/>
          </a:p>
        </p:txBody>
      </p:sp>
      <p:sp>
        <p:nvSpPr>
          <p:cNvPr id="57" name="Shape 55"/>
          <p:cNvSpPr/>
          <p:nvPr/>
        </p:nvSpPr>
        <p:spPr>
          <a:xfrm>
            <a:off x="438912" y="3383280"/>
            <a:ext cx="429768" cy="493776"/>
          </a:xfrm>
          <a:prstGeom prst="rect">
            <a:avLst/>
          </a:prstGeom>
          <a:solidFill>
            <a:srgbClr val="111827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75488" y="3419856"/>
            <a:ext cx="3566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5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915" dirty="0"/>
          </a:p>
        </p:txBody>
      </p:sp>
      <p:sp>
        <p:nvSpPr>
          <p:cNvPr id="59" name="Shape 57"/>
          <p:cNvSpPr/>
          <p:nvPr/>
        </p:nvSpPr>
        <p:spPr>
          <a:xfrm>
            <a:off x="868680" y="3383280"/>
            <a:ext cx="2148840" cy="493776"/>
          </a:xfrm>
          <a:prstGeom prst="rect">
            <a:avLst/>
          </a:prstGeom>
          <a:solidFill>
            <a:srgbClr val="111827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905256" y="3419856"/>
            <a:ext cx="2075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5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Broken Access Control</a:t>
            </a:r>
            <a:endParaRPr lang="en-US" sz="915" dirty="0"/>
          </a:p>
        </p:txBody>
      </p:sp>
      <p:sp>
        <p:nvSpPr>
          <p:cNvPr id="61" name="Shape 59"/>
          <p:cNvSpPr/>
          <p:nvPr/>
        </p:nvSpPr>
        <p:spPr>
          <a:xfrm>
            <a:off x="3017520" y="3383280"/>
            <a:ext cx="2880360" cy="493776"/>
          </a:xfrm>
          <a:prstGeom prst="rect">
            <a:avLst/>
          </a:prstGeom>
          <a:solidFill>
            <a:srgbClr val="111827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054096" y="3419856"/>
            <a:ext cx="2807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5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server-side role check</a:t>
            </a:r>
            <a:endParaRPr lang="en-US" sz="915" dirty="0"/>
          </a:p>
        </p:txBody>
      </p:sp>
      <p:sp>
        <p:nvSpPr>
          <p:cNvPr id="63" name="Shape 61"/>
          <p:cNvSpPr/>
          <p:nvPr/>
        </p:nvSpPr>
        <p:spPr>
          <a:xfrm>
            <a:off x="5897880" y="3383280"/>
            <a:ext cx="2432304" cy="493776"/>
          </a:xfrm>
          <a:prstGeom prst="rect">
            <a:avLst/>
          </a:prstGeom>
          <a:solidFill>
            <a:srgbClr val="111827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934456" y="3419856"/>
            <a:ext cx="23591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5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Users trigger admin operations</a:t>
            </a:r>
            <a:endParaRPr lang="en-US" sz="915" dirty="0"/>
          </a:p>
        </p:txBody>
      </p:sp>
      <p:sp>
        <p:nvSpPr>
          <p:cNvPr id="65" name="Shape 63"/>
          <p:cNvSpPr/>
          <p:nvPr/>
        </p:nvSpPr>
        <p:spPr>
          <a:xfrm>
            <a:off x="8330184" y="3383280"/>
            <a:ext cx="3410712" cy="493776"/>
          </a:xfrm>
          <a:prstGeom prst="rect">
            <a:avLst/>
          </a:prstGeom>
          <a:solidFill>
            <a:srgbClr val="111827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366760" y="3419856"/>
            <a:ext cx="3337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5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Authorize before privileged invoke</a:t>
            </a:r>
            <a:endParaRPr lang="en-US" sz="915" dirty="0"/>
          </a:p>
        </p:txBody>
      </p:sp>
      <p:sp>
        <p:nvSpPr>
          <p:cNvPr id="67" name="Shape 65"/>
          <p:cNvSpPr/>
          <p:nvPr/>
        </p:nvSpPr>
        <p:spPr>
          <a:xfrm>
            <a:off x="438912" y="3877056"/>
            <a:ext cx="429768" cy="493776"/>
          </a:xfrm>
          <a:prstGeom prst="rect">
            <a:avLst/>
          </a:prstGeom>
          <a:solidFill>
            <a:srgbClr val="162033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75488" y="3913632"/>
            <a:ext cx="3566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5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915" dirty="0"/>
          </a:p>
        </p:txBody>
      </p:sp>
      <p:sp>
        <p:nvSpPr>
          <p:cNvPr id="69" name="Shape 67"/>
          <p:cNvSpPr/>
          <p:nvPr/>
        </p:nvSpPr>
        <p:spPr>
          <a:xfrm>
            <a:off x="868680" y="3877056"/>
            <a:ext cx="2148840" cy="493776"/>
          </a:xfrm>
          <a:prstGeom prst="rect">
            <a:avLst/>
          </a:prstGeom>
          <a:solidFill>
            <a:srgbClr val="162033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905256" y="3913632"/>
            <a:ext cx="2075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5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Denial of Service</a:t>
            </a:r>
            <a:endParaRPr lang="en-US" sz="915" dirty="0"/>
          </a:p>
        </p:txBody>
      </p:sp>
      <p:sp>
        <p:nvSpPr>
          <p:cNvPr id="71" name="Shape 69"/>
          <p:cNvSpPr/>
          <p:nvPr/>
        </p:nvSpPr>
        <p:spPr>
          <a:xfrm>
            <a:off x="3017520" y="3877056"/>
            <a:ext cx="2880360" cy="493776"/>
          </a:xfrm>
          <a:prstGeom prst="rect">
            <a:avLst/>
          </a:prstGeom>
          <a:solidFill>
            <a:srgbClr val="162033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3054096" y="3913632"/>
            <a:ext cx="2807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5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API Gateway rate limiting</a:t>
            </a:r>
            <a:endParaRPr lang="en-US" sz="915" dirty="0"/>
          </a:p>
        </p:txBody>
      </p:sp>
      <p:sp>
        <p:nvSpPr>
          <p:cNvPr id="73" name="Shape 71"/>
          <p:cNvSpPr/>
          <p:nvPr/>
        </p:nvSpPr>
        <p:spPr>
          <a:xfrm>
            <a:off x="5897880" y="3877056"/>
            <a:ext cx="2432304" cy="493776"/>
          </a:xfrm>
          <a:prstGeom prst="rect">
            <a:avLst/>
          </a:prstGeom>
          <a:solidFill>
            <a:srgbClr val="162033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5934456" y="3913632"/>
            <a:ext cx="23591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5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Service unavailable under flood</a:t>
            </a:r>
            <a:endParaRPr lang="en-US" sz="915" dirty="0"/>
          </a:p>
        </p:txBody>
      </p:sp>
      <p:sp>
        <p:nvSpPr>
          <p:cNvPr id="75" name="Shape 73"/>
          <p:cNvSpPr/>
          <p:nvPr/>
        </p:nvSpPr>
        <p:spPr>
          <a:xfrm>
            <a:off x="8330184" y="3877056"/>
            <a:ext cx="3410712" cy="493776"/>
          </a:xfrm>
          <a:prstGeom prst="rect">
            <a:avLst/>
          </a:prstGeom>
          <a:solidFill>
            <a:srgbClr val="162033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8366760" y="3913632"/>
            <a:ext cx="3337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5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Throttling + Lambda concurrency</a:t>
            </a:r>
            <a:endParaRPr lang="en-US" sz="915" dirty="0"/>
          </a:p>
        </p:txBody>
      </p:sp>
      <p:sp>
        <p:nvSpPr>
          <p:cNvPr id="77" name="Shape 75"/>
          <p:cNvSpPr/>
          <p:nvPr/>
        </p:nvSpPr>
        <p:spPr>
          <a:xfrm>
            <a:off x="438912" y="4370832"/>
            <a:ext cx="429768" cy="493776"/>
          </a:xfrm>
          <a:prstGeom prst="rect">
            <a:avLst/>
          </a:prstGeom>
          <a:solidFill>
            <a:srgbClr val="111827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475488" y="4407408"/>
            <a:ext cx="3566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5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915" dirty="0"/>
          </a:p>
        </p:txBody>
      </p:sp>
      <p:sp>
        <p:nvSpPr>
          <p:cNvPr id="79" name="Shape 77"/>
          <p:cNvSpPr/>
          <p:nvPr/>
        </p:nvSpPr>
        <p:spPr>
          <a:xfrm>
            <a:off x="868680" y="4370832"/>
            <a:ext cx="2148840" cy="493776"/>
          </a:xfrm>
          <a:prstGeom prst="rect">
            <a:avLst/>
          </a:prstGeom>
          <a:solidFill>
            <a:srgbClr val="111827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905256" y="4407408"/>
            <a:ext cx="2075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5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Over-Privileged Function</a:t>
            </a:r>
            <a:endParaRPr lang="en-US" sz="915" dirty="0"/>
          </a:p>
        </p:txBody>
      </p:sp>
      <p:sp>
        <p:nvSpPr>
          <p:cNvPr id="81" name="Shape 79"/>
          <p:cNvSpPr/>
          <p:nvPr/>
        </p:nvSpPr>
        <p:spPr>
          <a:xfrm>
            <a:off x="3017520" y="4370832"/>
            <a:ext cx="2880360" cy="493776"/>
          </a:xfrm>
          <a:prstGeom prst="rect">
            <a:avLst/>
          </a:prstGeom>
          <a:solidFill>
            <a:srgbClr val="111827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3054096" y="4407408"/>
            <a:ext cx="2807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5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Overly broad IAM role</a:t>
            </a:r>
            <a:endParaRPr lang="en-US" sz="915" dirty="0"/>
          </a:p>
        </p:txBody>
      </p:sp>
      <p:sp>
        <p:nvSpPr>
          <p:cNvPr id="83" name="Shape 81"/>
          <p:cNvSpPr/>
          <p:nvPr/>
        </p:nvSpPr>
        <p:spPr>
          <a:xfrm>
            <a:off x="5897880" y="4370832"/>
            <a:ext cx="2432304" cy="493776"/>
          </a:xfrm>
          <a:prstGeom prst="rect">
            <a:avLst/>
          </a:prstGeom>
          <a:solidFill>
            <a:srgbClr val="111827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5934456" y="4407408"/>
            <a:ext cx="23591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5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Attacker inherits permissions</a:t>
            </a:r>
            <a:endParaRPr lang="en-US" sz="915" dirty="0"/>
          </a:p>
        </p:txBody>
      </p:sp>
      <p:sp>
        <p:nvSpPr>
          <p:cNvPr id="85" name="Shape 83"/>
          <p:cNvSpPr/>
          <p:nvPr/>
        </p:nvSpPr>
        <p:spPr>
          <a:xfrm>
            <a:off x="8330184" y="4370832"/>
            <a:ext cx="3410712" cy="493776"/>
          </a:xfrm>
          <a:prstGeom prst="rect">
            <a:avLst/>
          </a:prstGeom>
          <a:solidFill>
            <a:srgbClr val="111827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8366760" y="4407408"/>
            <a:ext cx="3337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5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Least privilege IAM role</a:t>
            </a:r>
            <a:endParaRPr lang="en-US" sz="915" dirty="0"/>
          </a:p>
        </p:txBody>
      </p:sp>
      <p:sp>
        <p:nvSpPr>
          <p:cNvPr id="87" name="Shape 85"/>
          <p:cNvSpPr/>
          <p:nvPr/>
        </p:nvSpPr>
        <p:spPr>
          <a:xfrm>
            <a:off x="438912" y="4864608"/>
            <a:ext cx="429768" cy="493776"/>
          </a:xfrm>
          <a:prstGeom prst="rect">
            <a:avLst/>
          </a:prstGeom>
          <a:solidFill>
            <a:srgbClr val="162033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475488" y="4901184"/>
            <a:ext cx="3566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5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915" dirty="0"/>
          </a:p>
        </p:txBody>
      </p:sp>
      <p:sp>
        <p:nvSpPr>
          <p:cNvPr id="89" name="Shape 87"/>
          <p:cNvSpPr/>
          <p:nvPr/>
        </p:nvSpPr>
        <p:spPr>
          <a:xfrm>
            <a:off x="868680" y="4864608"/>
            <a:ext cx="2148840" cy="493776"/>
          </a:xfrm>
          <a:prstGeom prst="rect">
            <a:avLst/>
          </a:prstGeom>
          <a:solidFill>
            <a:srgbClr val="162033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905256" y="4901184"/>
            <a:ext cx="2075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5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Logic Vulnerability</a:t>
            </a:r>
            <a:endParaRPr lang="en-US" sz="915" dirty="0"/>
          </a:p>
        </p:txBody>
      </p:sp>
      <p:sp>
        <p:nvSpPr>
          <p:cNvPr id="91" name="Shape 89"/>
          <p:cNvSpPr/>
          <p:nvPr/>
        </p:nvSpPr>
        <p:spPr>
          <a:xfrm>
            <a:off x="3017520" y="4864608"/>
            <a:ext cx="2880360" cy="493776"/>
          </a:xfrm>
          <a:prstGeom prst="rect">
            <a:avLst/>
          </a:prstGeom>
          <a:solidFill>
            <a:srgbClr val="162033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3054096" y="4901184"/>
            <a:ext cx="2807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5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order state locking</a:t>
            </a:r>
            <a:endParaRPr lang="en-US" sz="915" dirty="0"/>
          </a:p>
        </p:txBody>
      </p:sp>
      <p:sp>
        <p:nvSpPr>
          <p:cNvPr id="93" name="Shape 91"/>
          <p:cNvSpPr/>
          <p:nvPr/>
        </p:nvSpPr>
        <p:spPr>
          <a:xfrm>
            <a:off x="5897880" y="4864608"/>
            <a:ext cx="2432304" cy="493776"/>
          </a:xfrm>
          <a:prstGeom prst="rect">
            <a:avLst/>
          </a:prstGeom>
          <a:solidFill>
            <a:srgbClr val="162033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5934456" y="4901184"/>
            <a:ext cx="23591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5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 cheap, receive expensive</a:t>
            </a:r>
            <a:endParaRPr lang="en-US" sz="915" dirty="0"/>
          </a:p>
        </p:txBody>
      </p:sp>
      <p:sp>
        <p:nvSpPr>
          <p:cNvPr id="95" name="Shape 93"/>
          <p:cNvSpPr/>
          <p:nvPr/>
        </p:nvSpPr>
        <p:spPr>
          <a:xfrm>
            <a:off x="8330184" y="4864608"/>
            <a:ext cx="3410712" cy="493776"/>
          </a:xfrm>
          <a:prstGeom prst="rect">
            <a:avLst/>
          </a:prstGeom>
          <a:solidFill>
            <a:srgbClr val="162033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8366760" y="4901184"/>
            <a:ext cx="3337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5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Atomic conditional updates</a:t>
            </a:r>
            <a:endParaRPr lang="en-US" sz="915" dirty="0"/>
          </a:p>
        </p:txBody>
      </p:sp>
      <p:sp>
        <p:nvSpPr>
          <p:cNvPr id="97" name="Shape 95"/>
          <p:cNvSpPr/>
          <p:nvPr/>
        </p:nvSpPr>
        <p:spPr>
          <a:xfrm>
            <a:off x="438912" y="5358384"/>
            <a:ext cx="429768" cy="493776"/>
          </a:xfrm>
          <a:prstGeom prst="rect">
            <a:avLst/>
          </a:prstGeom>
          <a:solidFill>
            <a:srgbClr val="111827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475488" y="5394960"/>
            <a:ext cx="3566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5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</a:t>
            </a:r>
            <a:endParaRPr lang="en-US" sz="915" dirty="0"/>
          </a:p>
        </p:txBody>
      </p:sp>
      <p:sp>
        <p:nvSpPr>
          <p:cNvPr id="99" name="Shape 97"/>
          <p:cNvSpPr/>
          <p:nvPr/>
        </p:nvSpPr>
        <p:spPr>
          <a:xfrm>
            <a:off x="868680" y="5358384"/>
            <a:ext cx="2148840" cy="493776"/>
          </a:xfrm>
          <a:prstGeom prst="rect">
            <a:avLst/>
          </a:prstGeom>
          <a:solidFill>
            <a:srgbClr val="111827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905256" y="5394960"/>
            <a:ext cx="2075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5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Vulnerable Dependencies</a:t>
            </a:r>
            <a:endParaRPr lang="en-US" sz="915" dirty="0"/>
          </a:p>
        </p:txBody>
      </p:sp>
      <p:sp>
        <p:nvSpPr>
          <p:cNvPr id="101" name="Shape 99"/>
          <p:cNvSpPr/>
          <p:nvPr/>
        </p:nvSpPr>
        <p:spPr>
          <a:xfrm>
            <a:off x="3017520" y="5358384"/>
            <a:ext cx="2880360" cy="493776"/>
          </a:xfrm>
          <a:prstGeom prst="rect">
            <a:avLst/>
          </a:prstGeom>
          <a:solidFill>
            <a:srgbClr val="111827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3054096" y="5394960"/>
            <a:ext cx="2807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5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node-serialize in production</a:t>
            </a:r>
            <a:endParaRPr lang="en-US" sz="915" dirty="0"/>
          </a:p>
        </p:txBody>
      </p:sp>
      <p:sp>
        <p:nvSpPr>
          <p:cNvPr id="103" name="Shape 101"/>
          <p:cNvSpPr/>
          <p:nvPr/>
        </p:nvSpPr>
        <p:spPr>
          <a:xfrm>
            <a:off x="5897880" y="5358384"/>
            <a:ext cx="2432304" cy="493776"/>
          </a:xfrm>
          <a:prstGeom prst="rect">
            <a:avLst/>
          </a:prstGeom>
          <a:solidFill>
            <a:srgbClr val="111827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5934456" y="5394960"/>
            <a:ext cx="23591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5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Enables RCE</a:t>
            </a:r>
            <a:endParaRPr lang="en-US" sz="915" dirty="0"/>
          </a:p>
        </p:txBody>
      </p:sp>
      <p:sp>
        <p:nvSpPr>
          <p:cNvPr id="105" name="Shape 103"/>
          <p:cNvSpPr/>
          <p:nvPr/>
        </p:nvSpPr>
        <p:spPr>
          <a:xfrm>
            <a:off x="8330184" y="5358384"/>
            <a:ext cx="3410712" cy="493776"/>
          </a:xfrm>
          <a:prstGeom prst="rect">
            <a:avLst/>
          </a:prstGeom>
          <a:solidFill>
            <a:srgbClr val="111827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8366760" y="5394960"/>
            <a:ext cx="3337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5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Remove package + npm audit</a:t>
            </a:r>
            <a:endParaRPr lang="en-US" sz="915" dirty="0"/>
          </a:p>
        </p:txBody>
      </p:sp>
      <p:sp>
        <p:nvSpPr>
          <p:cNvPr id="107" name="Shape 105"/>
          <p:cNvSpPr/>
          <p:nvPr/>
        </p:nvSpPr>
        <p:spPr>
          <a:xfrm>
            <a:off x="438912" y="5852160"/>
            <a:ext cx="429768" cy="493776"/>
          </a:xfrm>
          <a:prstGeom prst="rect">
            <a:avLst/>
          </a:prstGeom>
          <a:solidFill>
            <a:srgbClr val="162033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475488" y="5888736"/>
            <a:ext cx="3566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5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915" dirty="0"/>
          </a:p>
        </p:txBody>
      </p:sp>
      <p:sp>
        <p:nvSpPr>
          <p:cNvPr id="109" name="Shape 107"/>
          <p:cNvSpPr/>
          <p:nvPr/>
        </p:nvSpPr>
        <p:spPr>
          <a:xfrm>
            <a:off x="868680" y="5852160"/>
            <a:ext cx="2148840" cy="493776"/>
          </a:xfrm>
          <a:prstGeom prst="rect">
            <a:avLst/>
          </a:prstGeom>
          <a:solidFill>
            <a:srgbClr val="162033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905256" y="5888736"/>
            <a:ext cx="2075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5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Unhandled Exceptions</a:t>
            </a:r>
            <a:endParaRPr lang="en-US" sz="915" dirty="0"/>
          </a:p>
        </p:txBody>
      </p:sp>
      <p:sp>
        <p:nvSpPr>
          <p:cNvPr id="111" name="Shape 109"/>
          <p:cNvSpPr/>
          <p:nvPr/>
        </p:nvSpPr>
        <p:spPr>
          <a:xfrm>
            <a:off x="3017520" y="5852160"/>
            <a:ext cx="2880360" cy="493776"/>
          </a:xfrm>
          <a:prstGeom prst="rect">
            <a:avLst/>
          </a:prstGeom>
          <a:solidFill>
            <a:srgbClr val="162033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3054096" y="5888736"/>
            <a:ext cx="2807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5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try/except in handlers</a:t>
            </a:r>
            <a:endParaRPr lang="en-US" sz="915" dirty="0"/>
          </a:p>
        </p:txBody>
      </p:sp>
      <p:sp>
        <p:nvSpPr>
          <p:cNvPr id="113" name="Shape 111"/>
          <p:cNvSpPr/>
          <p:nvPr/>
        </p:nvSpPr>
        <p:spPr>
          <a:xfrm>
            <a:off x="5897880" y="5852160"/>
            <a:ext cx="2432304" cy="493776"/>
          </a:xfrm>
          <a:prstGeom prst="rect">
            <a:avLst/>
          </a:prstGeom>
          <a:solidFill>
            <a:srgbClr val="162033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5934456" y="5888736"/>
            <a:ext cx="23591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5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Internal details leak</a:t>
            </a:r>
            <a:endParaRPr lang="en-US" sz="915" dirty="0"/>
          </a:p>
        </p:txBody>
      </p:sp>
      <p:sp>
        <p:nvSpPr>
          <p:cNvPr id="115" name="Shape 113"/>
          <p:cNvSpPr/>
          <p:nvPr/>
        </p:nvSpPr>
        <p:spPr>
          <a:xfrm>
            <a:off x="8330184" y="5852160"/>
            <a:ext cx="3410712" cy="493776"/>
          </a:xfrm>
          <a:prstGeom prst="rect">
            <a:avLst/>
          </a:prstGeom>
          <a:solidFill>
            <a:srgbClr val="162033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8366760" y="5888736"/>
            <a:ext cx="3337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5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Generic client errors + logs</a:t>
            </a:r>
            <a:endParaRPr lang="en-US" sz="91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11696"/>
            <a:ext cx="12191695" cy="36576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Lessons Learned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841248"/>
            <a:ext cx="1920240" cy="457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7395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ICS-344 DVSA Remediation | 15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85800" y="1051560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Secure Design Principles Reinforced: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41248" y="1600200"/>
            <a:ext cx="10561320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206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Input validation and strict allowlist enforcement at every entry point</a:t>
            </a:r>
            <a:endParaRPr lang="en-US" sz="2060" dirty="0"/>
          </a:p>
        </p:txBody>
      </p:sp>
      <p:sp>
        <p:nvSpPr>
          <p:cNvPr id="9" name="Text 7"/>
          <p:cNvSpPr/>
          <p:nvPr/>
        </p:nvSpPr>
        <p:spPr>
          <a:xfrm>
            <a:off x="841248" y="2084832"/>
            <a:ext cx="10561320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206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JWT signature verification — never trust token claims without verifying the signature</a:t>
            </a:r>
            <a:endParaRPr lang="en-US" sz="2060" dirty="0"/>
          </a:p>
        </p:txBody>
      </p:sp>
      <p:sp>
        <p:nvSpPr>
          <p:cNvPr id="10" name="Text 8"/>
          <p:cNvSpPr/>
          <p:nvPr/>
        </p:nvSpPr>
        <p:spPr>
          <a:xfrm>
            <a:off x="841248" y="2569464"/>
            <a:ext cx="10561320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206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Least privilege — Lambda roles must have only the permissions they need</a:t>
            </a:r>
            <a:endParaRPr lang="en-US" sz="2060" dirty="0"/>
          </a:p>
        </p:txBody>
      </p:sp>
      <p:sp>
        <p:nvSpPr>
          <p:cNvPr id="11" name="Text 9"/>
          <p:cNvSpPr/>
          <p:nvPr/>
        </p:nvSpPr>
        <p:spPr>
          <a:xfrm>
            <a:off x="841248" y="3054096"/>
            <a:ext cx="10561320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206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Server-side authorization on every endpoint — frontend is never a security boundary</a:t>
            </a:r>
            <a:endParaRPr lang="en-US" sz="2060" dirty="0"/>
          </a:p>
        </p:txBody>
      </p:sp>
      <p:sp>
        <p:nvSpPr>
          <p:cNvPr id="12" name="Text 10"/>
          <p:cNvSpPr/>
          <p:nvPr/>
        </p:nvSpPr>
        <p:spPr>
          <a:xfrm>
            <a:off x="841248" y="3538728"/>
            <a:ext cx="10561320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206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Generic errors to clients; full diagnostic detail to CloudWatch only</a:t>
            </a:r>
            <a:endParaRPr lang="en-US" sz="2060" dirty="0"/>
          </a:p>
        </p:txBody>
      </p:sp>
      <p:sp>
        <p:nvSpPr>
          <p:cNvPr id="13" name="Text 11"/>
          <p:cNvSpPr/>
          <p:nvPr/>
        </p:nvSpPr>
        <p:spPr>
          <a:xfrm>
            <a:off x="841248" y="4023360"/>
            <a:ext cx="10561320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206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Rate limiting and concurrency controls to prevent abuse and DoS</a:t>
            </a:r>
            <a:endParaRPr lang="en-US" sz="2060" dirty="0"/>
          </a:p>
        </p:txBody>
      </p:sp>
      <p:sp>
        <p:nvSpPr>
          <p:cNvPr id="14" name="Text 12"/>
          <p:cNvSpPr/>
          <p:nvPr/>
        </p:nvSpPr>
        <p:spPr>
          <a:xfrm>
            <a:off x="841248" y="4507992"/>
            <a:ext cx="10561320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206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Continuous dependency scanning and timely library upgrades</a:t>
            </a:r>
            <a:endParaRPr lang="en-US" sz="2060" dirty="0"/>
          </a:p>
        </p:txBody>
      </p:sp>
      <p:sp>
        <p:nvSpPr>
          <p:cNvPr id="15" name="Text 13"/>
          <p:cNvSpPr/>
          <p:nvPr/>
        </p:nvSpPr>
        <p:spPr>
          <a:xfrm>
            <a:off x="841248" y="4992624"/>
            <a:ext cx="10561320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206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Defense-in-depth — multiple control layers, never a single check</a:t>
            </a:r>
            <a:endParaRPr lang="en-US" sz="206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11696"/>
            <a:ext cx="12191695" cy="36576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841248"/>
            <a:ext cx="1920240" cy="457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7395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ICS-344 DVSA Remediation | 16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22960" y="1234440"/>
            <a:ext cx="1083564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Serverless does not mean secure — attack surface shifts to logic, IAM, and trust boundaries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22960" y="1929384"/>
            <a:ext cx="1083564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RCE, auth bypass, and privilege escalation came from trusting input, skipping checks, and over-granting permissions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22960" y="2624328"/>
            <a:ext cx="1083564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 single missing validation check or broad IAM policy can turn a secure system into a fully compromised one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22960" y="3319272"/>
            <a:ext cx="1083564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Fixes required understanding each component’s intended security contract — not just patching symptoms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22960" y="4014216"/>
            <a:ext cx="1083564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 serverless systems, input validation and least privilege are fundamental requirements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King Fahd University of Petroleum and Minerals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ICS-344 DVSA Vulnerability Discovery and Remediation</dc:title>
  <dc:subject>ICS-344 DVSA Vulnerability Discovery and Remediation</dc:subject>
  <dc:creator>OpenAI</dc:creator>
  <cp:lastModifiedBy>OpenAI</cp:lastModifiedBy>
  <cp:revision>1</cp:revision>
  <dcterms:created xsi:type="dcterms:W3CDTF">2026-04-25T08:35:53Z</dcterms:created>
  <dcterms:modified xsi:type="dcterms:W3CDTF">2026-04-25T08:35:53Z</dcterms:modified>
</cp:coreProperties>
</file>